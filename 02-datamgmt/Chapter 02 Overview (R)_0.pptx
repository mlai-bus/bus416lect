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7" r:id="rId2"/>
    <p:sldId id="258" r:id="rId3"/>
    <p:sldId id="29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96" r:id="rId13"/>
    <p:sldId id="267" r:id="rId14"/>
    <p:sldId id="300" r:id="rId15"/>
    <p:sldId id="268" r:id="rId16"/>
    <p:sldId id="269" r:id="rId17"/>
    <p:sldId id="301" r:id="rId18"/>
    <p:sldId id="270" r:id="rId19"/>
    <p:sldId id="271" r:id="rId20"/>
    <p:sldId id="302" r:id="rId21"/>
    <p:sldId id="303" r:id="rId22"/>
    <p:sldId id="304" r:id="rId23"/>
    <p:sldId id="305" r:id="rId24"/>
    <p:sldId id="275" r:id="rId25"/>
    <p:sldId id="291" r:id="rId26"/>
    <p:sldId id="276" r:id="rId27"/>
    <p:sldId id="306" r:id="rId28"/>
    <p:sldId id="277" r:id="rId29"/>
    <p:sldId id="292" r:id="rId30"/>
    <p:sldId id="293" r:id="rId31"/>
    <p:sldId id="294" r:id="rId32"/>
    <p:sldId id="298" r:id="rId33"/>
    <p:sldId id="279" r:id="rId34"/>
    <p:sldId id="278" r:id="rId35"/>
    <p:sldId id="307" r:id="rId36"/>
    <p:sldId id="280" r:id="rId37"/>
    <p:sldId id="282" r:id="rId38"/>
    <p:sldId id="308" r:id="rId39"/>
    <p:sldId id="299" r:id="rId40"/>
    <p:sldId id="288" r:id="rId41"/>
    <p:sldId id="295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900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Stats\XLMinerHelp\CasebookMainFiles\TeX_files_1105\Images\CH2-XYPlots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0.16122465045504891"/>
          <c:y val="6.6157925209539031E-2"/>
          <c:w val="0.777551795232578"/>
          <c:h val="0.75827160432471974"/>
        </c:manualLayout>
      </c:layout>
      <c:scatterChart>
        <c:scatterStyle val="smoothMarker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Sheet1!$A$1:$A$7</c:f>
              <c:numCache>
                <c:formatCode>General</c:formatCode>
                <c:ptCount val="7"/>
                <c:pt idx="0">
                  <c:v>239</c:v>
                </c:pt>
                <c:pt idx="1">
                  <c:v>364</c:v>
                </c:pt>
                <c:pt idx="2">
                  <c:v>602</c:v>
                </c:pt>
                <c:pt idx="3">
                  <c:v>644</c:v>
                </c:pt>
                <c:pt idx="4">
                  <c:v>770</c:v>
                </c:pt>
                <c:pt idx="5">
                  <c:v>789</c:v>
                </c:pt>
                <c:pt idx="6">
                  <c:v>911</c:v>
                </c:pt>
              </c:numCache>
            </c:numRef>
          </c:xVal>
          <c:yVal>
            <c:numRef>
              <c:f>Sheet1!$B$1:$B$7</c:f>
              <c:numCache>
                <c:formatCode>General</c:formatCode>
                <c:ptCount val="7"/>
                <c:pt idx="0">
                  <c:v>514</c:v>
                </c:pt>
                <c:pt idx="1">
                  <c:v>789</c:v>
                </c:pt>
                <c:pt idx="2">
                  <c:v>550</c:v>
                </c:pt>
                <c:pt idx="3">
                  <c:v>1386</c:v>
                </c:pt>
                <c:pt idx="4">
                  <c:v>1394</c:v>
                </c:pt>
                <c:pt idx="5">
                  <c:v>1440</c:v>
                </c:pt>
                <c:pt idx="6">
                  <c:v>1354</c:v>
                </c:pt>
              </c:numCache>
            </c:numRef>
          </c:yVal>
          <c:smooth val="1"/>
        </c:ser>
        <c:axId val="159854592"/>
        <c:axId val="159905280"/>
      </c:scatterChart>
      <c:valAx>
        <c:axId val="15985459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Expenditure</a:t>
                </a:r>
              </a:p>
            </c:rich>
          </c:tx>
          <c:layout>
            <c:manualLayout>
              <c:xMode val="edge"/>
              <c:yMode val="edge"/>
              <c:x val="0.46734740448362211"/>
              <c:y val="0.90331013266870663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59905280"/>
        <c:crosses val="autoZero"/>
        <c:crossBetween val="midCat"/>
      </c:valAx>
      <c:valAx>
        <c:axId val="159905280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Revenue</a:t>
                </a:r>
              </a:p>
            </c:rich>
          </c:tx>
          <c:layout>
            <c:manualLayout>
              <c:xMode val="edge"/>
              <c:yMode val="edge"/>
              <c:x val="3.2653093763047945E-2"/>
              <c:y val="0.36895765982243039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59854592"/>
        <c:crosses val="autoZero"/>
        <c:crossBetween val="midCat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28BE2565-3320-4806-BB46-5193C26F9324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AFC92CCA-6ED6-4BEF-9CC6-EA19E2FACE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1FB0BC4-5E11-486B-8421-B720879C19EE}" type="slidenum">
              <a:rPr lang="en-US" altLang="en-US" smtClean="0"/>
              <a:pPr>
                <a:defRPr/>
              </a:pPr>
              <a:t>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A1783E6-1880-440B-8AD5-0B1F92DA6702}" type="slidenum">
              <a:rPr lang="en-US" altLang="en-US" smtClean="0"/>
              <a:pPr>
                <a:defRPr/>
              </a:pPr>
              <a:t>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A90D603-3AC1-4957-9F06-296EB9CD5782}" type="slidenum">
              <a:rPr lang="en-US" altLang="en-US" smtClean="0"/>
              <a:pPr>
                <a:defRPr/>
              </a:pPr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C90C366-52D6-4EF7-AF20-EF2D72A63B49}" type="slidenum">
              <a:rPr lang="en-US" altLang="en-US" smtClean="0"/>
              <a:pPr>
                <a:defRPr/>
              </a:pPr>
              <a:t>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4EB8FED-DB97-49AA-BE15-7730B8F08CBE}" type="slidenum">
              <a:rPr lang="en-US" altLang="en-US" smtClean="0"/>
              <a:pPr>
                <a:defRPr/>
              </a:pPr>
              <a:t>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C853A91-13D6-4E60-BE96-D45B2CCC974B}" type="slidenum">
              <a:rPr lang="en-US" altLang="en-US" smtClean="0"/>
              <a:pPr>
                <a:defRPr/>
              </a:pPr>
              <a:t>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6DE3CF6-B7CF-47A6-9430-6FF5F85982D2}" type="slidenum">
              <a:rPr lang="en-US" altLang="en-US" smtClean="0"/>
              <a:pPr>
                <a:defRPr/>
              </a:pPr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BA60038-242D-47E0-8C19-1D96229E30A1}" type="slidenum">
              <a:rPr lang="en-US" altLang="en-US" smtClean="0"/>
              <a:pPr>
                <a:defRPr/>
              </a:pPr>
              <a:t>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919FB9B-C744-43BB-9BD5-1F7919333A99}" type="slidenum">
              <a:rPr lang="en-US" altLang="en-US" smtClean="0"/>
              <a:pPr>
                <a:defRPr/>
              </a:pPr>
              <a:t>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6C9053C-A1EA-45D3-92AA-0D3EAA0E62EF}" type="slidenum">
              <a:rPr lang="en-US" altLang="en-US" smtClean="0"/>
              <a:pPr>
                <a:defRPr/>
              </a:pPr>
              <a:t>10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6EDD5E9-A87E-4415-8867-5C9907364B72}" type="slidenum">
              <a:rPr lang="en-US" altLang="en-US" smtClean="0"/>
              <a:pPr>
                <a:defRPr/>
              </a:pPr>
              <a:t>11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EDE4318-B7C9-47BB-A124-553C1AF7018E}" type="slidenum">
              <a:rPr lang="en-US" altLang="en-US" smtClean="0"/>
              <a:pPr>
                <a:defRPr/>
              </a:pPr>
              <a:t>12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C25E811-F536-40A3-90FC-D3CE526CEF7D}" type="slidenum">
              <a:rPr lang="en-US" altLang="en-US" smtClean="0"/>
              <a:pPr>
                <a:defRPr/>
              </a:pPr>
              <a:t>13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17799B6-3947-4A78-81E0-B3076B877107}" type="slidenum">
              <a:rPr lang="en-US" altLang="en-US" smtClean="0"/>
              <a:pPr>
                <a:defRPr/>
              </a:pPr>
              <a:t>14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3F61D7E-98CF-4027-848E-3FF8C6A40B0B}" type="slidenum">
              <a:rPr lang="en-US" altLang="en-US" smtClean="0"/>
              <a:pPr>
                <a:defRPr/>
              </a:pPr>
              <a:t>15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67B116F-68AE-47AB-B339-ED7FCB21684F}" type="slidenum">
              <a:rPr lang="en-US" altLang="en-US" smtClean="0"/>
              <a:pPr>
                <a:defRPr/>
              </a:pPr>
              <a:t>16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8DE0CB4-F2F2-4F60-AB28-FA4B11C3A59A}" type="slidenum">
              <a:rPr lang="en-US" altLang="en-US" smtClean="0"/>
              <a:pPr>
                <a:defRPr/>
              </a:pPr>
              <a:t>17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D32DF46-856D-4533-8487-5A2708D0964C}" type="slidenum">
              <a:rPr lang="en-US" altLang="en-US" smtClean="0"/>
              <a:pPr>
                <a:defRPr/>
              </a:pPr>
              <a:t>18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8F91BFC-CD8E-455B-A43F-C81669ED0661}" type="slidenum">
              <a:rPr lang="en-US" altLang="en-US" smtClean="0"/>
              <a:pPr>
                <a:defRPr/>
              </a:pPr>
              <a:t>19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32B9A06-453E-4135-B422-B46A2237358A}" type="slidenum">
              <a:rPr lang="en-US" altLang="en-US" smtClean="0"/>
              <a:pPr>
                <a:defRPr/>
              </a:pPr>
              <a:t>20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DF66273-0AC6-41F0-A03D-0CB4492C6213}" type="slidenum">
              <a:rPr lang="en-US" altLang="en-US" smtClean="0"/>
              <a:pPr>
                <a:defRPr/>
              </a:pPr>
              <a:t>21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27C3E25-F91F-4B32-8B85-5DD4EE9FE1EF}" type="slidenum">
              <a:rPr lang="en-US" altLang="en-US" smtClean="0"/>
              <a:pPr>
                <a:defRPr/>
              </a:pPr>
              <a:t>22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14CB6E9-44CD-4BF1-BB43-46AE9764F5BC}" type="slidenum">
              <a:rPr lang="en-US" altLang="en-US" smtClean="0"/>
              <a:pPr>
                <a:defRPr/>
              </a:pPr>
              <a:t>23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C6049F0-3A1B-45BA-AF3F-F5F1EE54E34F}" type="slidenum">
              <a:rPr lang="en-US" altLang="en-US" smtClean="0"/>
              <a:pPr>
                <a:defRPr/>
              </a:pPr>
              <a:t>24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AB92712-C761-48B5-9A55-81CBA3545135}" type="slidenum">
              <a:rPr lang="en-US" altLang="en-US" sz="1200"/>
              <a:pPr algn="r"/>
              <a:t>25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2E354A4-E793-4179-8E87-9F2B3EC545A8}" type="slidenum">
              <a:rPr lang="en-US" altLang="en-US" smtClean="0"/>
              <a:pPr>
                <a:defRPr/>
              </a:pPr>
              <a:t>26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F79DB8F-72E1-4251-94FA-AD1BA37ECAE3}" type="slidenum">
              <a:rPr lang="en-US" altLang="en-US" smtClean="0"/>
              <a:pPr>
                <a:defRPr/>
              </a:pPr>
              <a:t>27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B1C0339-2423-437D-B451-29CCFFF58C16}" type="slidenum">
              <a:rPr lang="en-US" altLang="en-US" smtClean="0"/>
              <a:pPr>
                <a:defRPr/>
              </a:pPr>
              <a:t>28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78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189D838-71A1-4615-8F96-C31ABAB85E01}" type="slidenum">
              <a:rPr lang="en-US" altLang="en-US" sz="1200"/>
              <a:pPr algn="r"/>
              <a:t>29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88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338F2CF-F941-4458-88EA-D525D13A94C6}" type="slidenum">
              <a:rPr lang="en-US" altLang="en-US" sz="1200"/>
              <a:pPr algn="r"/>
              <a:t>30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987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497BC40-C00B-41CB-8BD8-B77212BF75DE}" type="slidenum">
              <a:rPr lang="en-US" altLang="en-US" sz="1200"/>
              <a:pPr algn="r"/>
              <a:t>31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D5B986A-9084-4721-AD9B-1B0FA6645B78}" type="slidenum">
              <a:rPr lang="en-US" altLang="en-US" smtClean="0"/>
              <a:pPr>
                <a:defRPr/>
              </a:pPr>
              <a:t>32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1A55E03-30BF-4FDF-97D6-DBC265AF5BEC}" type="slidenum">
              <a:rPr lang="en-US" altLang="en-US" smtClean="0"/>
              <a:pPr>
                <a:defRPr/>
              </a:pPr>
              <a:t>33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D157854-7CE4-4A1C-B5BE-41F88918BCF8}" type="slidenum">
              <a:rPr lang="en-US" altLang="en-US" smtClean="0"/>
              <a:pPr>
                <a:defRPr/>
              </a:pPr>
              <a:t>34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836BFD3-8156-457B-96CD-DD5375BCF588}" type="slidenum">
              <a:rPr lang="en-US" altLang="en-US" smtClean="0"/>
              <a:pPr>
                <a:defRPr/>
              </a:pPr>
              <a:t>35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3EFD00C-0B24-43D5-A606-0932D0750FDD}" type="slidenum">
              <a:rPr lang="en-US" altLang="en-US" smtClean="0"/>
              <a:pPr>
                <a:defRPr/>
              </a:pPr>
              <a:t>36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EF2F584-FFBF-4BA9-B68B-6B46E76DD03A}" type="slidenum">
              <a:rPr lang="en-US" altLang="en-US" smtClean="0"/>
              <a:pPr>
                <a:defRPr/>
              </a:pPr>
              <a:t>37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2DAD23F-FAF2-420B-860D-570E28655E51}" type="slidenum">
              <a:rPr lang="en-US" altLang="en-US" smtClean="0"/>
              <a:pPr>
                <a:defRPr/>
              </a:pPr>
              <a:t>38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319E3C6-7ED2-4F85-AB89-48AAE53FCEFE}" type="slidenum">
              <a:rPr lang="en-US" altLang="en-US" smtClean="0"/>
              <a:pPr>
                <a:defRPr/>
              </a:pPr>
              <a:t>39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D35C02D-4F5D-4FFC-94D6-E11335C414A8}" type="slidenum">
              <a:rPr lang="en-US" altLang="en-US" smtClean="0"/>
              <a:pPr>
                <a:defRPr/>
              </a:pPr>
              <a:t>40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8846F67-1900-41BB-838D-CC2E3508F978}" type="slidenum">
              <a:rPr lang="en-US" altLang="en-US" smtClean="0"/>
              <a:pPr>
                <a:defRPr/>
              </a:pPr>
              <a:t>41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F8F9A-6B9C-4E99-A672-AA22494AC827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6C8228-8E3D-47B4-9F2F-4DFD1683B7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B7CE3-98A8-44D5-97E5-518A21F75621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32A48-17A9-4882-998A-9ED17B95E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5CB7E-CA62-4728-9A01-E4C077EDB16C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0AE4-B6E7-49A2-842A-93E266E87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5EC6D-69CF-4B50-8DD2-755FB0A87272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F50A3-077B-40C7-8B7E-79D4A02C6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EC02D-2D74-4675-AE58-6EA7616DA41A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C5DC6-0AE3-43DB-BABD-7BB5792B88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76C86-FDB5-49B3-81C9-7F1E7740B715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071CF-07B6-4068-B301-CCA93B572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B99C1-E074-4312-A4FB-54633EB37A66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7ABAE-5DFD-4654-A34A-BF977A0C0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40A97-526F-4C11-AAA7-3EA03338936B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08FFC-EB67-4A7A-8EBD-EF81F1F68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96CDF-B34A-4A0F-A35A-AE968AC36E54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1F9DF-8103-4ADE-8F25-4A16D6EF88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DFAE8-BBF0-417D-AA10-2919B6E99BD4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6D68C-F9C0-4CA0-8052-8D5E38C495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46EDF-5A8D-479C-AC59-E0526DE12ADB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0508F-1B81-4EC0-93A6-1A3FE4877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63335-4D21-470B-BED0-FABBD057111B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95D13-DB23-4D94-8613-9A6BA2DDD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B64C0EF-C16E-4BDC-AE2F-623E38AA30B2}" type="datetimeFigureOut">
              <a:rPr lang="en-US"/>
              <a:pPr>
                <a:defRPr/>
              </a:pPr>
              <a:t>12/21/2017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45545526-4F4B-44FF-8542-E0A2891DED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03" r:id="rId2"/>
    <p:sldLayoutId id="2147483812" r:id="rId3"/>
    <p:sldLayoutId id="2147483804" r:id="rId4"/>
    <p:sldLayoutId id="2147483805" r:id="rId5"/>
    <p:sldLayoutId id="2147483806" r:id="rId6"/>
    <p:sldLayoutId id="2147483807" r:id="rId7"/>
    <p:sldLayoutId id="2147483813" r:id="rId8"/>
    <p:sldLayoutId id="2147483814" r:id="rId9"/>
    <p:sldLayoutId id="2147483808" r:id="rId10"/>
    <p:sldLayoutId id="2147483809" r:id="rId11"/>
    <p:sldLayoutId id="214748381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ps.google.com/?q=c(9,+14&amp;entry=gmail&amp;source=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Overview</a:t>
            </a:r>
          </a:p>
        </p:txBody>
      </p:sp>
      <p:sp>
        <p:nvSpPr>
          <p:cNvPr id="6147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mtClean="0"/>
              <a:t>© Galit Shmueli and Peter Bruce 2017</a:t>
            </a:r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609600" y="4570413"/>
            <a:ext cx="7010400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accent2"/>
                </a:solidFill>
                <a:latin typeface="Franklin Gothic Book" pitchFamily="34" charset="0"/>
              </a:rPr>
              <a:t>Data Mining for Business Analytics in R</a:t>
            </a:r>
          </a:p>
          <a:p>
            <a:pPr>
              <a:spcBef>
                <a:spcPct val="50000"/>
              </a:spcBef>
            </a:pPr>
            <a:r>
              <a:rPr lang="en-US" altLang="en-US" sz="2800" b="1">
                <a:solidFill>
                  <a:schemeClr val="tx2"/>
                </a:solidFill>
                <a:latin typeface="Franklin Gothic Book" pitchFamily="34" charset="0"/>
              </a:rPr>
              <a:t>Shmueli, Bruce, Yahav, Patel &amp; Lichtendahl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Core Ideas in Data Mining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Classification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Prediction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Association Rules &amp; Recommenders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Data &amp; Dimension Reduction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Data Exploration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Visualization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/>
              <a:t>Paradigms for Data Mining (variations)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5240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SEMMA (from SAS)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Sample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Explore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Modify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Model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Assess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CRISP-DM  (SPSS/IBM)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Business Understanding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Data Understanding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Data Preparation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Modeling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Evaluation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smtClean="0">
                <a:latin typeface="Franklin Gothic Book" pitchFamily="34" charset="0"/>
              </a:rPr>
              <a:t>Deployment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z="200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Supervised Learning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Goal: Predict a single “target” or “outcome” variable 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Training data, where target value is known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Score to data where value is not known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Methods: Classification and Prediction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 Learning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Goal: Segment data into meaningful segments; detect patterns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There is no target (outcome) variable to predict or classify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Methods: Association rules, data reduction &amp; exploration,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Supervised: Classification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40386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Goal: Predict categorical target (outcome) variable 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Examples: Purchase/no purchase, fraud/no fraud, creditworthy/not creditworthy…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Each row is a case (customer, tax return, applicant)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Each column is a variable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Target variable is often binary (yes/no)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Supervised: Prediction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Goal: Predict numerical target (outcome) variable 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Examples: sales, revenue, performance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As in classification: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Each row is a case (customer, tax return, applicant)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Each column is a variable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Taken together, classification and prediction constitute “predictive analytics”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Unsupervised: Association Rules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8001000" cy="457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Goal: Produce rules that define “what goes with what”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Example: “If X was purchased, Y was also purchased”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Rows are transactions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Used in recommender systems – “Our records show you bought X, you may also like Y”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Also called “affinity analysis”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Unsupervised: Data Reduction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Distillation of complex/large data into simpler/smaller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Reducing the number of variables/columns (e.g., principal components)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Reducing the number of records/rows (e.g., clustering)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Unsupervised: Data Visualization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Graphs and plots of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Histograms, boxplots, bar charts, scatterplots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Especially useful to examine relationships between pairs of variables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Exploration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Data sets are typically large, complex &amp; messy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Need to review the data to help refine the task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Use techniques of Reduction and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The Process of Data Mining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Steps in Data Mining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3434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Define/understand purpose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Obtain data (may involve random sampling)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Explore, clean, pre-process data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Reduce the data; if supervised DM, partition it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Specify task (classification, clustering, etc.)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Choose the techniques (regression, CART, neural networks, etc.)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Iterative implementation and “tuning” 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Assess results – compare models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smtClean="0">
                <a:latin typeface="Franklin Gothic Book" pitchFamily="34" charset="0"/>
              </a:rPr>
              <a:t>Deploy best model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868363"/>
          </a:xfrm>
        </p:spPr>
        <p:txBody>
          <a:bodyPr/>
          <a:lstStyle/>
          <a:p>
            <a:pPr algn="ctr" eaLnBrk="1" hangingPunct="1"/>
            <a:r>
              <a:rPr lang="en-US" altLang="en-US" sz="3200" smtClean="0"/>
              <a:t>Preliminary Exploration in R</a:t>
            </a:r>
            <a:br>
              <a:rPr lang="en-US" altLang="en-US" sz="3200" smtClean="0"/>
            </a:br>
            <a:r>
              <a:rPr lang="en-US" altLang="en-US" sz="2000" smtClean="0"/>
              <a:t>loading data, viewing it, summary statistics</a:t>
            </a:r>
            <a:endParaRPr lang="en-US" altLang="en-US" smtClean="0"/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066800"/>
            <a:ext cx="8208963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Obtaining Data: Sampling	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40386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Data mining typically deals with huge databases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For piloting/prototyping, algorithms and models are typically applied to a sample from a database, to produce statistically-valid results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Once you develop and select a final model, you use it to “score” (predict values or classes for) the observations in the larger database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Rare Event Oversampling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Often the event of interest is rare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Examples: response to mailing, fraud in taxes, …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Sampling may yield too few “interesting” cases to effectively train a model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 popular solution: oversample the rare cases to obtain a more balanced training set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Later, need to adjust results for the oversampling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/>
          <a:lstStyle/>
          <a:p>
            <a:pPr algn="ctr" eaLnBrk="1" hangingPunct="1"/>
            <a:r>
              <a:rPr lang="en-US" altLang="en-US" smtClean="0"/>
              <a:t>Sampling &amp; Oversampling	</a:t>
            </a:r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828800"/>
            <a:ext cx="7623175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Variables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latin typeface="Franklin Gothic Book" pitchFamily="34" charset="0"/>
              </a:rPr>
              <a:t>Determine the types of pre-processing needed, and algorithms used</a:t>
            </a:r>
          </a:p>
          <a:p>
            <a:pPr eaLnBrk="1" hangingPunct="1"/>
            <a:r>
              <a:rPr lang="en-US" altLang="en-US" sz="2800" smtClean="0">
                <a:latin typeface="Franklin Gothic Book" pitchFamily="34" charset="0"/>
              </a:rPr>
              <a:t>Main distinction: Categorical vs. numeric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Numeric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Continuous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Integer</a:t>
            </a:r>
          </a:p>
          <a:p>
            <a:pPr eaLnBrk="1" hangingPunct="1"/>
            <a:r>
              <a:rPr lang="en-US" altLang="en-US" sz="2800" smtClean="0">
                <a:latin typeface="Franklin Gothic Book" pitchFamily="34" charset="0"/>
              </a:rPr>
              <a:t>Categorical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Ordered (low, medium, high)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Unordered (male, female)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Variable handling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Numeric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Most algorithms can handle numeric data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May occasionally need to “bin” into categories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Categorical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Naïve Bayes can use as-is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In most other algorithms, must create binary dummies (number of dummies = number of categories – 1) [see Table 2.6 for R code]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/>
          <a:lstStyle/>
          <a:p>
            <a:pPr eaLnBrk="1" hangingPunct="1"/>
            <a:r>
              <a:rPr lang="en-US" altLang="en-US" smtClean="0"/>
              <a:t>Reviewing Variables in R</a:t>
            </a:r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225" y="1828800"/>
            <a:ext cx="7456488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Box 6"/>
          <p:cNvSpPr txBox="1">
            <a:spLocks noChangeArrowheads="1"/>
          </p:cNvSpPr>
          <p:nvPr/>
        </p:nvSpPr>
        <p:spPr bwMode="auto">
          <a:xfrm>
            <a:off x="838200" y="5181600"/>
            <a:ext cx="3352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output on next slide…</a:t>
            </a:r>
          </a:p>
        </p:txBody>
      </p:sp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6781800" y="3124200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a double matrix transpose using </a:t>
            </a:r>
            <a:r>
              <a:rPr lang="en-US" sz="120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200"/>
              <a:t> (transpose) function</a:t>
            </a:r>
          </a:p>
        </p:txBody>
      </p:sp>
      <p:cxnSp>
        <p:nvCxnSpPr>
          <p:cNvPr id="7" name="Straight Arrow Connector 6"/>
          <p:cNvCxnSpPr>
            <a:stCxn id="25605" idx="1"/>
          </p:cNvCxnSpPr>
          <p:nvPr/>
        </p:nvCxnSpPr>
        <p:spPr>
          <a:xfrm flipH="1">
            <a:off x="6477000" y="3354388"/>
            <a:ext cx="304800" cy="2270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pPr algn="ctr" eaLnBrk="1" hangingPunct="1"/>
            <a:r>
              <a:rPr lang="en-US" altLang="en-US" sz="3200" smtClean="0"/>
              <a:t>Output of code on previous slide</a:t>
            </a: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143000"/>
            <a:ext cx="2895600" cy="481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pPr algn="ctr" eaLnBrk="1" hangingPunct="1"/>
            <a:r>
              <a:rPr lang="en-US" altLang="en-US" sz="3200" smtClean="0"/>
              <a:t>Creating binary dummies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19200"/>
            <a:ext cx="709295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914400" y="5867400"/>
            <a:ext cx="3581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output on next slide…</a:t>
            </a:r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914400" y="4724400"/>
            <a:ext cx="6705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>
                <a:latin typeface="Courier New" pitchFamily="49" charset="0"/>
                <a:cs typeface="Courier New" pitchFamily="49" charset="0"/>
              </a:rPr>
              <a:t>#now, put it all together again, drop original REMODEL from the data</a:t>
            </a:r>
            <a:br>
              <a:rPr lang="en-US" sz="1200">
                <a:latin typeface="Courier New" pitchFamily="49" charset="0"/>
                <a:cs typeface="Courier New" pitchFamily="49" charset="0"/>
              </a:rPr>
            </a:br>
            <a:r>
              <a:rPr lang="en-US" sz="1200">
                <a:latin typeface="Courier New" pitchFamily="49" charset="0"/>
                <a:cs typeface="Courier New" pitchFamily="49" charset="0"/>
              </a:rPr>
              <a:t>housing.df &lt;- cbind(housing.df[, -</a:t>
            </a:r>
            <a:r>
              <a:rPr lang="en-US" sz="1200">
                <a:latin typeface="Courier New" pitchFamily="49" charset="0"/>
                <a:cs typeface="Courier New" pitchFamily="49" charset="0"/>
                <a:hlinkClick r:id="rId4"/>
              </a:rPr>
              <a:t>c(9, 14</a:t>
            </a:r>
            <a:r>
              <a:rPr lang="en-US" sz="1200">
                <a:latin typeface="Courier New" pitchFamily="49" charset="0"/>
                <a:cs typeface="Courier New" pitchFamily="49" charset="0"/>
              </a:rPr>
              <a:t>)], xtotal)</a:t>
            </a:r>
            <a:br>
              <a:rPr lang="en-US" sz="1200">
                <a:latin typeface="Courier New" pitchFamily="49" charset="0"/>
                <a:cs typeface="Courier New" pitchFamily="49" charset="0"/>
              </a:rPr>
            </a:br>
            <a:r>
              <a:rPr lang="en-US" sz="1200">
                <a:latin typeface="Courier New" pitchFamily="49" charset="0"/>
                <a:cs typeface="Courier New" pitchFamily="49" charset="0"/>
              </a:rPr>
              <a:t>t(t(names(housing.df)))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pPr algn="ctr" eaLnBrk="1" hangingPunct="1"/>
            <a:r>
              <a:rPr lang="en-US" altLang="en-US" sz="3200" smtClean="0"/>
              <a:t>Creating Binary Dummies – Output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219200"/>
            <a:ext cx="5465763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838200" y="5181600"/>
            <a:ext cx="7315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Note:  R’s </a:t>
            </a:r>
            <a:r>
              <a:rPr lang="en-US">
                <a:latin typeface="Courier New" pitchFamily="49" charset="0"/>
                <a:cs typeface="Courier New" pitchFamily="49" charset="0"/>
              </a:rPr>
              <a:t>lm</a:t>
            </a:r>
            <a:r>
              <a:rPr lang="en-US"/>
              <a:t> function automatically creates dummies, so you can skip dummy creation when using </a:t>
            </a:r>
            <a:r>
              <a:rPr lang="en-US">
                <a:latin typeface="Courier New" pitchFamily="49" charset="0"/>
                <a:cs typeface="Courier New" pitchFamily="49" charset="0"/>
              </a:rPr>
              <a:t>lm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Detecting Outliers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05000"/>
            <a:ext cx="7772400" cy="48006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An outlier is an observation that is “extreme”, being distant from the rest of the data (definition of “distant” is deliberately vague)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Outliers can have disproportionate influence on models (a problem if it is spurious)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An important step in data pre-processing is detecting outliers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Once detected, domain knowledge is required to determine if it is an error, or truly extreme.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Detecting Outliers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0" y="18288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In some contexts, finding outliers is the purpose of the DM exercise (airport security screening). This is called “anomaly detection”.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Handling Missing Data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Most algorithms will not process records with missing values. Default is to drop those records.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Solution 1: Omission</a:t>
            </a:r>
          </a:p>
          <a:p>
            <a:pPr marL="742950" lvl="1" indent="-285750" eaLnBrk="1" hangingPunct="1"/>
            <a:r>
              <a:rPr lang="en-US" altLang="en-US" sz="2000" smtClean="0">
                <a:latin typeface="Franklin Gothic Book" pitchFamily="34" charset="0"/>
              </a:rPr>
              <a:t>If a small number of records have missing values, can omit them</a:t>
            </a:r>
          </a:p>
          <a:p>
            <a:pPr marL="742950" lvl="1" indent="-285750" eaLnBrk="1" hangingPunct="1"/>
            <a:r>
              <a:rPr lang="en-US" altLang="en-US" sz="2000" smtClean="0">
                <a:latin typeface="Franklin Gothic Book" pitchFamily="34" charset="0"/>
              </a:rPr>
              <a:t>If many records are missing values on a small set of variables, can drop those variables (or use proxies)</a:t>
            </a:r>
          </a:p>
          <a:p>
            <a:pPr marL="742950" lvl="1" indent="-285750" eaLnBrk="1" hangingPunct="1"/>
            <a:r>
              <a:rPr lang="en-US" altLang="en-US" sz="2000" smtClean="0">
                <a:latin typeface="Franklin Gothic Book" pitchFamily="34" charset="0"/>
              </a:rPr>
              <a:t>If many records have missing values, omission is not practical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Solution 2: Imputation [see Table 2.7 for R code] </a:t>
            </a:r>
          </a:p>
          <a:p>
            <a:pPr marL="742950" lvl="1" indent="-285750" eaLnBrk="1" hangingPunct="1"/>
            <a:r>
              <a:rPr lang="en-US" altLang="en-US" sz="2000" smtClean="0">
                <a:latin typeface="Franklin Gothic Book" pitchFamily="34" charset="0"/>
              </a:rPr>
              <a:t>Replace missing values with reasonable substitutes</a:t>
            </a:r>
          </a:p>
          <a:p>
            <a:pPr marL="742950" lvl="1" indent="-285750" eaLnBrk="1" hangingPunct="1"/>
            <a:r>
              <a:rPr lang="en-US" altLang="en-US" sz="2000" smtClean="0">
                <a:latin typeface="Franklin Gothic Book" pitchFamily="34" charset="0"/>
              </a:rPr>
              <a:t>Lets you keep the record and use the rest of its (non-missing) information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639762"/>
          </a:xfrm>
        </p:spPr>
        <p:txBody>
          <a:bodyPr/>
          <a:lstStyle/>
          <a:p>
            <a:pPr algn="ctr" eaLnBrk="1" hangingPunct="1"/>
            <a:r>
              <a:rPr lang="en-US" altLang="en-US" sz="3200" smtClean="0"/>
              <a:t>Replacing Missing Data with Median</a:t>
            </a: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4038" y="1038225"/>
            <a:ext cx="5643562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Normalizing (Standardizing) Data	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Used in some techniques when variables with the largest scales would dominate and skew results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Puts all variables on same scale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Normalizing function: Subtract mean and divide by standard deviation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Alternative function: scale to 0-1 by subtracting minimum and dividing by the range</a:t>
            </a:r>
          </a:p>
          <a:p>
            <a:pPr marL="742950" lvl="1" indent="-285750" eaLnBrk="1" hangingPunct="1"/>
            <a:r>
              <a:rPr lang="en-US" altLang="en-US" sz="2200" smtClean="0">
                <a:latin typeface="Franklin Gothic Book" pitchFamily="34" charset="0"/>
              </a:rPr>
              <a:t>Useful when the data contain dummies and numeric</a:t>
            </a:r>
            <a:br>
              <a:rPr lang="en-US" altLang="en-US" sz="2200" smtClean="0">
                <a:latin typeface="Franklin Gothic Book" pitchFamily="34" charset="0"/>
              </a:rPr>
            </a:br>
            <a:endParaRPr lang="en-US" altLang="en-US" sz="220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/>
              <a:t>The Problem of Overfitting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Statistical models can produce highly complex explanations of relationships between variables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The “fit” may be excellent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When used with </a:t>
            </a:r>
            <a:r>
              <a:rPr lang="en-US" altLang="en-US" u="sng" smtClean="0">
                <a:latin typeface="Franklin Gothic Book" pitchFamily="34" charset="0"/>
              </a:rPr>
              <a:t>new</a:t>
            </a:r>
            <a:r>
              <a:rPr lang="en-US" altLang="en-US" smtClean="0">
                <a:latin typeface="Franklin Gothic Book" pitchFamily="34" charset="0"/>
              </a:rPr>
              <a:t> data, models of great complexity do not do so well.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100% fit – not useful for </a:t>
            </a:r>
            <a:r>
              <a:rPr lang="en-US" altLang="en-US" u="sng" smtClean="0"/>
              <a:t>new</a:t>
            </a:r>
            <a:r>
              <a:rPr lang="en-US" altLang="en-US" smtClean="0"/>
              <a:t> data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4294967295"/>
          </p:nvPr>
        </p:nvGraphicFramePr>
        <p:xfrm>
          <a:off x="914400" y="1447800"/>
          <a:ext cx="7772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Overfitting (cont.)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latin typeface="Franklin Gothic Book" pitchFamily="34" charset="0"/>
              </a:rPr>
              <a:t>Causes:</a:t>
            </a:r>
          </a:p>
          <a:p>
            <a:pPr marL="742950" lvl="1" indent="-285750" eaLnBrk="1" hangingPunct="1">
              <a:defRPr/>
            </a:pPr>
            <a:r>
              <a:rPr lang="en-US" sz="2200" dirty="0" smtClean="0">
                <a:latin typeface="Franklin Gothic Book" pitchFamily="34" charset="0"/>
              </a:rPr>
              <a:t>Too many predictors</a:t>
            </a:r>
          </a:p>
          <a:p>
            <a:pPr marL="742950" lvl="1" indent="-285750" eaLnBrk="1" hangingPunct="1">
              <a:defRPr/>
            </a:pPr>
            <a:r>
              <a:rPr lang="en-US" sz="2200" dirty="0" smtClean="0">
                <a:latin typeface="Franklin Gothic Book" pitchFamily="34" charset="0"/>
              </a:rPr>
              <a:t>A model with too many parameters </a:t>
            </a:r>
          </a:p>
          <a:p>
            <a:pPr marL="742950" lvl="1" indent="-285750" eaLnBrk="1" hangingPunct="1">
              <a:defRPr/>
            </a:pPr>
            <a:r>
              <a:rPr lang="en-US" sz="2200" dirty="0" smtClean="0">
                <a:latin typeface="Franklin Gothic Book" pitchFamily="34" charset="0"/>
              </a:rPr>
              <a:t>Trying many different models</a:t>
            </a:r>
          </a:p>
          <a:p>
            <a:pPr eaLnBrk="1" hangingPunct="1">
              <a:defRPr/>
            </a:pPr>
            <a:endParaRPr lang="en-US" dirty="0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 smtClean="0">
                <a:latin typeface="Franklin Gothic Book" pitchFamily="34" charset="0"/>
              </a:rPr>
              <a:t>Consequence:  Deployed model will not work as well as expected with completely new data.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Partitioning the Data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5638800" cy="4038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Franklin Gothic Book" pitchFamily="34" charset="0"/>
              </a:rPr>
              <a:t>Problem: How well will our model perform with new data?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Franklin Gothic Book" pitchFamily="34" charset="0"/>
              </a:rPr>
              <a:t>Solution:  Separate data into two parts </a:t>
            </a:r>
          </a:p>
          <a:p>
            <a:pPr lvl="1" eaLnBrk="1" hangingPunct="1"/>
            <a:r>
              <a:rPr lang="en-US" altLang="en-US" u="sng" smtClean="0">
                <a:latin typeface="Franklin Gothic Book" pitchFamily="34" charset="0"/>
              </a:rPr>
              <a:t>Training</a:t>
            </a:r>
            <a:r>
              <a:rPr lang="en-US" altLang="en-US" smtClean="0">
                <a:latin typeface="Franklin Gothic Book" pitchFamily="34" charset="0"/>
              </a:rPr>
              <a:t> partition to develop the model</a:t>
            </a:r>
          </a:p>
          <a:p>
            <a:pPr lvl="1" eaLnBrk="1" hangingPunct="1"/>
            <a:r>
              <a:rPr lang="en-US" altLang="en-US" u="sng" smtClean="0">
                <a:latin typeface="Franklin Gothic Book" pitchFamily="34" charset="0"/>
              </a:rPr>
              <a:t>Validation</a:t>
            </a:r>
            <a:r>
              <a:rPr lang="en-US" altLang="en-US" smtClean="0">
                <a:latin typeface="Franklin Gothic Book" pitchFamily="34" charset="0"/>
              </a:rPr>
              <a:t> partition to implement the model and evaluate its performance on “new” data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Franklin Gothic Book" pitchFamily="34" charset="0"/>
              </a:rPr>
              <a:t>Addresses the issue of overfitting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</p:txBody>
      </p:sp>
      <p:pic>
        <p:nvPicPr>
          <p:cNvPr id="3789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3813" y="1600200"/>
            <a:ext cx="261937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1650" y="1447800"/>
            <a:ext cx="22161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Test Partition	</a:t>
            </a:r>
          </a:p>
        </p:txBody>
      </p:sp>
      <p:sp>
        <p:nvSpPr>
          <p:cNvPr id="38916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6248400" cy="5257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When a model is developed on </a:t>
            </a:r>
            <a:r>
              <a:rPr lang="en-US" altLang="en-US" b="1" smtClean="0">
                <a:latin typeface="Franklin Gothic Book" pitchFamily="34" charset="0"/>
              </a:rPr>
              <a:t>training data</a:t>
            </a:r>
            <a:r>
              <a:rPr lang="en-US" altLang="en-US" smtClean="0">
                <a:latin typeface="Franklin Gothic Book" pitchFamily="34" charset="0"/>
              </a:rPr>
              <a:t>, it can overfit the training data (hence need to assess on validation)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Assessing multiple models on same </a:t>
            </a:r>
            <a:r>
              <a:rPr lang="en-US" altLang="en-US" b="1" smtClean="0">
                <a:latin typeface="Franklin Gothic Book" pitchFamily="34" charset="0"/>
              </a:rPr>
              <a:t>validation data </a:t>
            </a:r>
            <a:r>
              <a:rPr lang="en-US" altLang="en-US" smtClean="0">
                <a:latin typeface="Franklin Gothic Book" pitchFamily="34" charset="0"/>
              </a:rPr>
              <a:t>can overfit validation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Some methods use the validation data to choose a parameter. This too can lead to overfitting the validation data 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Solution: final selected model is applied to a </a:t>
            </a:r>
            <a:r>
              <a:rPr lang="en-US" altLang="en-US" b="1" u="sng" smtClean="0">
                <a:latin typeface="Franklin Gothic Book" pitchFamily="34" charset="0"/>
              </a:rPr>
              <a:t>test</a:t>
            </a:r>
            <a:r>
              <a:rPr lang="en-US" altLang="en-US" b="1" smtClean="0">
                <a:latin typeface="Franklin Gothic Book" pitchFamily="34" charset="0"/>
              </a:rPr>
              <a:t> partition </a:t>
            </a:r>
            <a:r>
              <a:rPr lang="en-US" altLang="en-US" smtClean="0">
                <a:latin typeface="Franklin Gothic Book" pitchFamily="34" charset="0"/>
              </a:rPr>
              <a:t>to give unbiased estimate of its performance on new data 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Partitioning the Data</a:t>
            </a:r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8234363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Partitioning the Data into 3 sets</a:t>
            </a: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6863" y="1295400"/>
            <a:ext cx="855027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77724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Example – Linear Regression</a:t>
            </a:r>
            <a:br>
              <a:rPr lang="en-US" dirty="0" smtClean="0"/>
            </a:br>
            <a:r>
              <a:rPr lang="en-US" dirty="0" smtClean="0"/>
              <a:t>West Roxbury Housing Data</a:t>
            </a:r>
            <a:endParaRPr lang="en-US" dirty="0"/>
          </a:p>
        </p:txBody>
      </p:sp>
      <p:pic>
        <p:nvPicPr>
          <p:cNvPr id="4198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76400"/>
            <a:ext cx="6124575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Fit model to the training data</a:t>
            </a:r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304800" y="990600"/>
            <a:ext cx="8686800" cy="250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lm</a:t>
            </a:r>
            <a:r>
              <a:rPr lang="en-US" dirty="0"/>
              <a:t> function (“linear model”):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&lt;- lm(TOTAL_VALUE ~ ., data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subset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train.rows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“Scoring” data is getting predicted (= “fitted) values; here for the training data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 &lt;- lm(TOTAL_VALUE ~ .-TAX, data = </a:t>
            </a:r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, subset = </a:t>
            </a:r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train.rows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) # remove TAX</a:t>
            </a:r>
          </a:p>
          <a:p>
            <a:r>
              <a:rPr lang="en-US" sz="1300" dirty="0">
                <a:latin typeface="Courier New" pitchFamily="49" charset="0"/>
                <a:cs typeface="Courier New" pitchFamily="49" charset="0"/>
              </a:rPr>
              <a:t>tr.res &lt;- </a:t>
            </a:r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data.frame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train.data$TOTAL_VALUE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reg$fitted.values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300" dirty="0" err="1">
                <a:latin typeface="Courier New" pitchFamily="49" charset="0"/>
                <a:cs typeface="Courier New" pitchFamily="49" charset="0"/>
              </a:rPr>
              <a:t>reg$residuals</a:t>
            </a:r>
            <a:r>
              <a:rPr lang="en-US" sz="13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300" dirty="0">
                <a:latin typeface="Courier New" pitchFamily="49" charset="0"/>
                <a:cs typeface="Courier New" pitchFamily="49" charset="0"/>
              </a:rPr>
              <a:t>head(tr.res)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505200"/>
            <a:ext cx="6248400" cy="2445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Scoring the validation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19200"/>
            <a:ext cx="807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predict(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newdata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valid.data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vl.res &lt;-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data.frame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valid.data$TOTAL_VALUE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residuals =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valid.data$TOTAL_VALUE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head(vl.res)</a:t>
            </a: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438400"/>
            <a:ext cx="5165820" cy="255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Assess accuracy</a:t>
            </a:r>
          </a:p>
        </p:txBody>
      </p:sp>
      <p:sp>
        <p:nvSpPr>
          <p:cNvPr id="45059" name="TextBox 4"/>
          <p:cNvSpPr txBox="1">
            <a:spLocks noChangeArrowheads="1"/>
          </p:cNvSpPr>
          <p:nvPr/>
        </p:nvSpPr>
        <p:spPr bwMode="auto">
          <a:xfrm>
            <a:off x="457200" y="1905000"/>
            <a:ext cx="83058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For the validation data:</a:t>
            </a:r>
          </a:p>
          <a:p>
            <a:endParaRPr lang="en-US" dirty="0"/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library(forecast)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accuracy(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valid.data$TOTAL_VALUE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Output:</a:t>
            </a:r>
          </a:p>
          <a:p>
            <a:r>
              <a:rPr lang="en-US" dirty="0" smtClean="0"/>
              <a:t>                      </a:t>
            </a:r>
            <a:r>
              <a:rPr lang="nn-NO" sz="1400" dirty="0" smtClean="0">
                <a:latin typeface="Courier New" pitchFamily="49" charset="0"/>
                <a:cs typeface="Courier New" pitchFamily="49" charset="0"/>
              </a:rPr>
              <a:t>ME     RMSE      MAE        MPE    MAPE</a:t>
            </a:r>
            <a:endParaRPr lang="nn-NO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Test set -1.22575 43.29939 32.26393 -1.376272 8.414937</a:t>
            </a:r>
          </a:p>
          <a:p>
            <a:endParaRPr lang="en-US" dirty="0"/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Potential confusion</a:t>
            </a:r>
            <a:r>
              <a:rPr lang="en-US" sz="1200" dirty="0"/>
              <a:t>:  the label 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Test set</a:t>
            </a:r>
            <a:r>
              <a:rPr lang="en-US" sz="1200" dirty="0"/>
              <a:t> is used by the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forecast</a:t>
            </a:r>
            <a:r>
              <a:rPr lang="en-US" sz="1200" dirty="0"/>
              <a:t> package to refer to the data used in the analysis and does </a:t>
            </a:r>
            <a:r>
              <a:rPr lang="en-US" sz="1200" u="sng" dirty="0"/>
              <a:t>not</a:t>
            </a:r>
            <a:r>
              <a:rPr lang="en-US" sz="1200" dirty="0"/>
              <a:t> refer to the test partition created earlier.  The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forecast</a:t>
            </a:r>
            <a:r>
              <a:rPr lang="en-US" sz="1200" dirty="0"/>
              <a:t> package is used in all types of modeling analysis, not just data mining, hence the conflicting terminology.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Error metrics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Franklin Gothic Book" pitchFamily="34" charset="0"/>
              </a:rPr>
              <a:t>Error = actual – predicted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Franklin Gothic Book" pitchFamily="34" charset="0"/>
              </a:rPr>
              <a:t>ME = Mean error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Franklin Gothic Book" pitchFamily="34" charset="0"/>
              </a:rPr>
              <a:t>RMSE = Root-mean-squared error = Square root of average squared error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Franklin Gothic Book" pitchFamily="34" charset="0"/>
              </a:rPr>
              <a:t>MAE = Mean absolute error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Franklin Gothic Book" pitchFamily="34" charset="0"/>
              </a:rPr>
              <a:t>MPE = Pean percentage error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Franklin Gothic Book" pitchFamily="34" charset="0"/>
              </a:rPr>
              <a:t>MAPE = Mean absolute percentage error</a:t>
            </a:r>
          </a:p>
          <a:p>
            <a:pPr eaLnBrk="1" hangingPunct="1"/>
            <a:endParaRPr lang="en-US" smtClean="0">
              <a:latin typeface="Franklin Gothic Book" pitchFamily="34" charset="0"/>
            </a:endParaRPr>
          </a:p>
          <a:p>
            <a:pPr eaLnBrk="1" hangingPunct="1"/>
            <a:endParaRPr lang="en-US" smtClean="0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Summary</a:t>
            </a:r>
          </a:p>
        </p:txBody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>
                <a:latin typeface="Franklin Gothic Book" pitchFamily="34" charset="0"/>
              </a:rPr>
              <a:t>Data Mining consists of supervised methods (Classification &amp; Prediction) and unsupervised methods (Association Rules, Data Reduction, Data Exploration &amp; Visualization)</a:t>
            </a: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Franklin Gothic Book" pitchFamily="34" charset="0"/>
              </a:rPr>
              <a:t>Before algorithms can be applied, data must be explored and pre-processed</a:t>
            </a: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Franklin Gothic Book" pitchFamily="34" charset="0"/>
              </a:rPr>
              <a:t>To evaluate performance and to avoid overfitting, data partitioning is used</a:t>
            </a: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Franklin Gothic Book" pitchFamily="34" charset="0"/>
              </a:rPr>
              <a:t>Models are fit to the training partition and assessed on the validation and test partitions</a:t>
            </a:r>
          </a:p>
          <a:p>
            <a:pPr>
              <a:lnSpc>
                <a:spcPct val="90000"/>
              </a:lnSpc>
            </a:pPr>
            <a:r>
              <a:rPr lang="en-US" altLang="en-US" sz="2400" smtClean="0">
                <a:latin typeface="Franklin Gothic Book" pitchFamily="34" charset="0"/>
              </a:rPr>
              <a:t>Data mining methods are usually applied to a sample from a large database, and then the best model is used to score the entire database</a:t>
            </a:r>
          </a:p>
          <a:p>
            <a:pPr>
              <a:lnSpc>
                <a:spcPct val="90000"/>
              </a:lnSpc>
            </a:pPr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ty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ty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3091</TotalTime>
  <Words>1584</Words>
  <Application>Microsoft Office PowerPoint</Application>
  <PresentationFormat>On-screen Show (4:3)</PresentationFormat>
  <Paragraphs>258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Franklin Gothic Book</vt:lpstr>
      <vt:lpstr>Perpetua</vt:lpstr>
      <vt:lpstr>Wingdings 2</vt:lpstr>
      <vt:lpstr>Calibri</vt:lpstr>
      <vt:lpstr>Courier New</vt:lpstr>
      <vt:lpstr>Equity</vt:lpstr>
      <vt:lpstr>Overview</vt:lpstr>
      <vt:lpstr>Core Ideas in Data Mining</vt:lpstr>
      <vt:lpstr>Paradigms for Data Mining (variations)</vt:lpstr>
      <vt:lpstr>Supervised Learning</vt:lpstr>
      <vt:lpstr>Unsupervised Learning</vt:lpstr>
      <vt:lpstr>Supervised: Classification</vt:lpstr>
      <vt:lpstr>Supervised: Prediction</vt:lpstr>
      <vt:lpstr>Unsupervised: Association Rules</vt:lpstr>
      <vt:lpstr>Unsupervised: Data Reduction</vt:lpstr>
      <vt:lpstr>Unsupervised: Data Visualization</vt:lpstr>
      <vt:lpstr>Data Exploration</vt:lpstr>
      <vt:lpstr>The Process of Data Mining</vt:lpstr>
      <vt:lpstr>Steps in Data Mining</vt:lpstr>
      <vt:lpstr>Preliminary Exploration in R loading data, viewing it, summary statistics</vt:lpstr>
      <vt:lpstr>Obtaining Data: Sampling </vt:lpstr>
      <vt:lpstr>Rare Event Oversampling</vt:lpstr>
      <vt:lpstr>Sampling &amp; Oversampling </vt:lpstr>
      <vt:lpstr>Types of Variables</vt:lpstr>
      <vt:lpstr>Variable handling</vt:lpstr>
      <vt:lpstr>Reviewing Variables in R</vt:lpstr>
      <vt:lpstr>Output of code on previous slide</vt:lpstr>
      <vt:lpstr>Creating binary dummies</vt:lpstr>
      <vt:lpstr>Creating Binary Dummies – Output</vt:lpstr>
      <vt:lpstr>Detecting Outliers</vt:lpstr>
      <vt:lpstr>Detecting Outliers</vt:lpstr>
      <vt:lpstr>Handling Missing Data</vt:lpstr>
      <vt:lpstr>Replacing Missing Data with Median</vt:lpstr>
      <vt:lpstr>Normalizing (Standardizing) Data </vt:lpstr>
      <vt:lpstr>The Problem of Overfitting</vt:lpstr>
      <vt:lpstr>100% fit – not useful for new data</vt:lpstr>
      <vt:lpstr>Overfitting (cont.)</vt:lpstr>
      <vt:lpstr>Partitioning the Data</vt:lpstr>
      <vt:lpstr>Test Partition </vt:lpstr>
      <vt:lpstr>Partitioning the Data</vt:lpstr>
      <vt:lpstr>Partitioning the Data into 3 sets</vt:lpstr>
      <vt:lpstr> Example – Linear Regression West Roxbury Housing Data</vt:lpstr>
      <vt:lpstr>Fit model to the training data</vt:lpstr>
      <vt:lpstr>Scoring the validation data</vt:lpstr>
      <vt:lpstr>Assess accuracy</vt:lpstr>
      <vt:lpstr>Error metrics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P Bruce</dc:creator>
  <cp:lastModifiedBy>Peter</cp:lastModifiedBy>
  <cp:revision>71</cp:revision>
  <dcterms:created xsi:type="dcterms:W3CDTF">2008-10-07T18:49:19Z</dcterms:created>
  <dcterms:modified xsi:type="dcterms:W3CDTF">2017-12-21T20:51:45Z</dcterms:modified>
</cp:coreProperties>
</file>