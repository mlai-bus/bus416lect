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7" r:id="rId2"/>
    <p:sldId id="258" r:id="rId3"/>
    <p:sldId id="290" r:id="rId4"/>
    <p:sldId id="292" r:id="rId5"/>
    <p:sldId id="289" r:id="rId6"/>
    <p:sldId id="291" r:id="rId7"/>
    <p:sldId id="293" r:id="rId8"/>
    <p:sldId id="295" r:id="rId9"/>
    <p:sldId id="270" r:id="rId10"/>
    <p:sldId id="287" r:id="rId11"/>
    <p:sldId id="271" r:id="rId12"/>
    <p:sldId id="284" r:id="rId13"/>
    <p:sldId id="272" r:id="rId14"/>
    <p:sldId id="273" r:id="rId15"/>
    <p:sldId id="274" r:id="rId16"/>
    <p:sldId id="275" r:id="rId17"/>
    <p:sldId id="276" r:id="rId18"/>
    <p:sldId id="294" r:id="rId19"/>
    <p:sldId id="296" r:id="rId20"/>
    <p:sldId id="297" r:id="rId21"/>
    <p:sldId id="279" r:id="rId22"/>
    <p:sldId id="281" r:id="rId23"/>
    <p:sldId id="298" r:id="rId24"/>
    <p:sldId id="299" r:id="rId25"/>
    <p:sldId id="282" r:id="rId26"/>
    <p:sldId id="288" r:id="rId27"/>
    <p:sldId id="285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-9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84"/>
    </p:cViewPr>
  </p:sorterViewPr>
  <p:gridSpacing cx="77716063" cy="7771606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88318E5-8E11-4527-99ED-3283235AB01B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2DB585D-3659-4C44-A2CF-1187B79568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0FBD037-8125-4453-807E-888DD7D1F02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6FE604-10AE-4CB9-95B1-49506A3450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46EDAC-0AFE-4C4B-8850-DA6010B1F87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1AFB95-559D-4521-9F00-1F690B8B1A9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B740B4B-88CC-422C-9D3C-3D521076B84E}" type="slidenum">
              <a:rPr lang="en-US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en-US" sz="1200">
              <a:latin typeface="+mn-lt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00D51D-6865-459C-AC05-98938115B08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636D06-902C-4390-89B1-48AF72DE7A7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7716B7-881A-457B-BD7B-B111C3E86AC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B8F0E5-69F0-407D-A751-2FF24BCF227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68EE3F-CC54-4EEE-9D26-22942DEB2D9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A5AD3C-A881-4D3B-B9C6-93FEFADE774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4584AA-94BF-44A9-A965-CF2E0ED94AA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EB1400-1145-400A-8213-7D28F85EB6F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5E2B82-4ECF-40F1-82C3-24AEA3B6923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94A1E-04E4-482F-BB0C-BC208142E967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6A1C69D-A67E-4DD3-8E10-DD07DA958C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C07A5-7057-48A7-B779-5183EBABD7C8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1D398F-AF6A-4593-93C2-CEBCF2C944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C04E7-2134-43BB-8DD3-0B9EC348552E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6BB47-9253-49EA-ABC2-F1CCF17D06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F5E61-31DC-44EC-837A-B58DED4E6D1E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402C0-2F9D-4763-891D-C5B299A793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BE835-EA27-4680-9978-44805A7CCA4A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513ED-39DF-4519-933A-F8CC3AB80F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8F2AD-E2E5-403A-9186-B4BB5723D0CC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45238-A214-4484-B83B-974AE9593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3C48E-2811-4D0D-9A0D-A71216A5278C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247F8-ED47-4B3E-BFD2-A44782E706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566C5-BB48-46FB-9458-4B3BDC6626BE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797F1-DF3B-412A-B435-EB42617D5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4D834-25F9-40F7-82CE-F15D26E38F50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65A58-42F6-4E43-B5EA-4DCC607A19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A1A5C-E4A3-4930-A864-2AFB74805B79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422A5-CA16-43A2-821D-DC2A192B2A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21E743-F4DD-4E4E-8BFC-9E2FBC8CA8ED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1F554-7D75-4985-BD96-113DFBAA77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D00A2181-F52E-4809-B239-BAC4A1961023}" type="datetimeFigureOut">
              <a:rPr lang="en-US"/>
              <a:pPr>
                <a:defRPr/>
              </a:pPr>
              <a:t>2/8/2018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47DA37F-18B6-4E01-935C-1BF47DDEA8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82" r:id="rId2"/>
    <p:sldLayoutId id="2147483790" r:id="rId3"/>
    <p:sldLayoutId id="2147483783" r:id="rId4"/>
    <p:sldLayoutId id="2147483784" r:id="rId5"/>
    <p:sldLayoutId id="2147483785" r:id="rId6"/>
    <p:sldLayoutId id="2147483786" r:id="rId7"/>
    <p:sldLayoutId id="2147483791" r:id="rId8"/>
    <p:sldLayoutId id="2147483792" r:id="rId9"/>
    <p:sldLayoutId id="2147483787" r:id="rId10"/>
    <p:sldLayoutId id="214748378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/>
          <p:cNvSpPr>
            <a:spLocks noGrp="1"/>
          </p:cNvSpPr>
          <p:nvPr>
            <p:ph type="title"/>
          </p:nvPr>
        </p:nvSpPr>
        <p:spPr>
          <a:xfrm>
            <a:off x="609600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Chapter 4 –Dimension Reduction</a:t>
            </a:r>
          </a:p>
        </p:txBody>
      </p:sp>
      <p:sp>
        <p:nvSpPr>
          <p:cNvPr id="614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altLang="en-US" dirty="0" smtClean="0">
                <a:cs typeface="Arial" charset="0"/>
              </a:rPr>
              <a:t>© </a:t>
            </a:r>
            <a:r>
              <a:rPr lang="en-US" altLang="en-US" dirty="0" err="1" smtClean="0">
                <a:cs typeface="Arial" charset="0"/>
              </a:rPr>
              <a:t>Galit</a:t>
            </a:r>
            <a:r>
              <a:rPr lang="en-US" altLang="en-US" dirty="0" smtClean="0">
                <a:cs typeface="Arial" charset="0"/>
              </a:rPr>
              <a:t> </a:t>
            </a:r>
            <a:r>
              <a:rPr lang="en-US" altLang="en-US" dirty="0" err="1" smtClean="0">
                <a:cs typeface="Arial" charset="0"/>
              </a:rPr>
              <a:t>Shmueli</a:t>
            </a:r>
            <a:r>
              <a:rPr lang="en-US" altLang="en-US" dirty="0" smtClean="0">
                <a:cs typeface="Arial" charset="0"/>
              </a:rPr>
              <a:t> and Peter Bruce 2017</a:t>
            </a:r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609600" y="4570413"/>
            <a:ext cx="7010400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dirty="0" smtClean="0">
                <a:solidFill>
                  <a:schemeClr val="accent2"/>
                </a:solidFill>
                <a:latin typeface="Franklin Gothic Book" pitchFamily="34" charset="0"/>
              </a:rPr>
              <a:t>Data Mining for Business Analytics in R</a:t>
            </a:r>
          </a:p>
          <a:p>
            <a:pPr>
              <a:spcBef>
                <a:spcPct val="50000"/>
              </a:spcBef>
            </a:pPr>
            <a:r>
              <a:rPr lang="en-US" altLang="en-US" sz="2800" b="1" dirty="0" err="1" smtClean="0">
                <a:solidFill>
                  <a:schemeClr val="tx2"/>
                </a:solidFill>
                <a:latin typeface="Franklin Gothic Book" pitchFamily="34" charset="0"/>
              </a:rPr>
              <a:t>Shmueli</a:t>
            </a:r>
            <a:r>
              <a:rPr lang="en-US" altLang="en-US" sz="2800" b="1" dirty="0" smtClean="0">
                <a:solidFill>
                  <a:schemeClr val="tx2"/>
                </a:solidFill>
                <a:latin typeface="Franklin Gothic Book" pitchFamily="34" charset="0"/>
              </a:rPr>
              <a:t>, Bruce, </a:t>
            </a:r>
            <a:r>
              <a:rPr lang="en-US" altLang="en-US" sz="2800" b="1" dirty="0" err="1" smtClean="0">
                <a:solidFill>
                  <a:schemeClr val="tx2"/>
                </a:solidFill>
                <a:latin typeface="Franklin Gothic Book" pitchFamily="34" charset="0"/>
              </a:rPr>
              <a:t>Yahav</a:t>
            </a:r>
            <a:r>
              <a:rPr lang="en-US" altLang="en-US" sz="2800" b="1" dirty="0" smtClean="0">
                <a:solidFill>
                  <a:schemeClr val="tx2"/>
                </a:solidFill>
                <a:latin typeface="Franklin Gothic Book" pitchFamily="34" charset="0"/>
              </a:rPr>
              <a:t>, Patel &amp; </a:t>
            </a:r>
            <a:r>
              <a:rPr lang="en-US" altLang="en-US" sz="2800" b="1" dirty="0" err="1" smtClean="0">
                <a:solidFill>
                  <a:schemeClr val="tx2"/>
                </a:solidFill>
                <a:latin typeface="Franklin Gothic Book" pitchFamily="34" charset="0"/>
              </a:rPr>
              <a:t>Lichtendahl</a:t>
            </a:r>
            <a:endParaRPr lang="en-US" altLang="en-US" sz="2800" b="1" dirty="0">
              <a:solidFill>
                <a:schemeClr val="tx2"/>
              </a:solidFill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Exploring the data	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741488"/>
            <a:ext cx="7772400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latin typeface="Franklin Gothic Book" pitchFamily="34" charset="0"/>
              </a:rPr>
              <a:t>Statistical summary of data: common metrics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Average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Median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Minimum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Maximum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Standard deviation</a:t>
            </a:r>
          </a:p>
          <a:p>
            <a:pPr lvl="1" eaLnBrk="1" hangingPunct="1"/>
            <a:r>
              <a:rPr lang="en-US" altLang="en-US" smtClean="0">
                <a:latin typeface="Franklin Gothic Book" pitchFamily="34" charset="0"/>
              </a:rPr>
              <a:t>Counts &amp; percentages</a:t>
            </a:r>
          </a:p>
          <a:p>
            <a:pPr eaLnBrk="1" hangingPunct="1"/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8515" y="2034498"/>
            <a:ext cx="6638135" cy="2836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156725" y="1000360"/>
            <a:ext cx="6982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Summary Statistics for Boston Housing Data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2620" y="620885"/>
            <a:ext cx="6982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Correlation Matrix for Boston Housing Data</a:t>
            </a:r>
            <a:endParaRPr lang="en-US" sz="2400" dirty="0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6725" y="1911100"/>
            <a:ext cx="6593217" cy="3602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29040" y="2138785"/>
            <a:ext cx="705823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 compute mean, standard dev., min, max, median,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 length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and missing values for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all variables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data.frame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(mean=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sapply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mean), +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+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sapply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), +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+ min=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sapply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min), +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+ max=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sapply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max), +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+ median=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sapply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median), +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+ length=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sapply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length) +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+ miss.val=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sapply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function(x)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+ sum(length(which(is.na(x)))))))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4935" y="1076255"/>
            <a:ext cx="6375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Computing Summary Statistics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8515" y="772675"/>
            <a:ext cx="6526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Using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800" dirty="0" smtClean="0"/>
              <a:t> to tabulate counts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1080830" y="2690336"/>
            <a:ext cx="6830550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&lt;- read.csv("BostonHousing.csv")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boston.housing.df$CHAS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0   1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471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35</a:t>
            </a:r>
          </a:p>
        </p:txBody>
      </p:sp>
      <p:sp>
        <p:nvSpPr>
          <p:cNvPr id="4" name="Oval 3"/>
          <p:cNvSpPr/>
          <p:nvPr/>
        </p:nvSpPr>
        <p:spPr>
          <a:xfrm>
            <a:off x="1687990" y="3732579"/>
            <a:ext cx="379475" cy="3794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2143360" y="4036160"/>
            <a:ext cx="1062530" cy="4553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81785" y="4339740"/>
            <a:ext cx="3187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35 neighborhoods have a CHAS value of “1,” i.e. they border the Charles River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7775" y="393200"/>
            <a:ext cx="850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Using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aggregate</a:t>
            </a:r>
            <a:r>
              <a:rPr lang="en-US" sz="2400" dirty="0" smtClean="0"/>
              <a:t> to tabulate counts using multiple variables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49565" y="1076255"/>
            <a:ext cx="827255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 create bins of size 1</a:t>
            </a: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boston.housing.df$RM.bin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&lt;- .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bincode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boston.housing.df$RM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c(1:9))</a:t>
            </a:r>
          </a:p>
          <a:p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compute the average of MEDV by (binned) RM and CHAS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# in aggregate() use the argument by= to define the list of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# aggregating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variables,and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FUN= as an aggregating function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aggregate(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boston.housing.df$MEDV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by=list(RM=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boston.housing.df$RM.bin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CHAS=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boston.housing.df$CHAS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), FUN=mean)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2620" y="3884370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RM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CHAS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x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3  0   25.30000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2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4  0   15.40714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3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5  0   17.2000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4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6  0   21.76917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5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7  0   35.96444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6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8  0   45.70000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7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5  1   22.21818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8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6  1   25.91875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9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7  1   44.06667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10 8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1   35.95000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295150" y="4112055"/>
            <a:ext cx="986635" cy="3035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357680" y="4263845"/>
            <a:ext cx="11384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0" y="3884370"/>
            <a:ext cx="2504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In neighborhoods where houses averaged 3 rooms and did not border the Charles, median value was 25.3 ($000)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5460" y="1152150"/>
            <a:ext cx="827255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 use melt() to stack a set of columns into a single column of data.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 stack MEDV values for each combination of (binned) RM and CHAS</a:t>
            </a: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mlt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melt(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boston.housing.df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id=c("RM.bin", "CHAS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"), measure=c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("MEDV"))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head(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mlt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5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400" dirty="0" smtClean="0">
                <a:latin typeface="+mj-lt"/>
                <a:cs typeface="Courier New" pitchFamily="49" charset="0"/>
              </a:rPr>
              <a:t>output:</a:t>
            </a:r>
            <a:endParaRPr lang="en-US" sz="1400" dirty="0">
              <a:latin typeface="+mj-lt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RM.bin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CHAS variable value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1   6   0   MEDV   24.0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2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6   0   MEDV   21.6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3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7   0   MEDV   34.7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4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6   0   MEDV   33.4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AutoNum type="arabicPlain" startAt="5"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7   0   MEDV   36.2</a:t>
            </a:r>
          </a:p>
          <a:p>
            <a:pPr marL="342900" indent="-342900">
              <a:buAutoNum type="arabicPlain" startAt="5"/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# use cast() to reshape data and generate pivot table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cast(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mlt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RM.bin ~ CHAS, subset=variable=="MEDV",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margins=c("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grand_row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", "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grand_col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"), mean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RM.bin   0        1          (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all)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1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3  25.30000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NaN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25.30000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2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4  15.40714   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NaN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15.40714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3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5  17.20000    22.21818  17.55159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4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6  21.76917    25.91875  22.01599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5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7  35.96444    44.06667  36.91765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6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8  45.70000    35.95000  44.20000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7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all) 22.09384 28.44000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22.53281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5985" y="469095"/>
            <a:ext cx="8196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+mj-lt"/>
                <a:cs typeface="Arial" pitchFamily="34" charset="0"/>
              </a:rPr>
              <a:t>Use</a:t>
            </a:r>
            <a:r>
              <a:rPr lang="en-US" sz="2000" dirty="0" smtClean="0">
                <a:latin typeface="+mj-lt"/>
                <a:cs typeface="Courier New" pitchFamily="49" charset="0"/>
              </a:rPr>
              <a:t> functions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melt </a:t>
            </a:r>
            <a:r>
              <a:rPr lang="en-US" sz="2000" dirty="0" smtClean="0">
                <a:latin typeface="+mj-lt"/>
                <a:cs typeface="Courier New" pitchFamily="49" charset="0"/>
              </a:rPr>
              <a:t>and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cast </a:t>
            </a:r>
            <a:r>
              <a:rPr lang="en-US" sz="2000" dirty="0" smtClean="0">
                <a:latin typeface="+mj-lt"/>
                <a:cs typeface="Courier New" pitchFamily="49" charset="0"/>
              </a:rPr>
              <a:t>in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reshape </a:t>
            </a:r>
            <a:r>
              <a:rPr lang="en-US" sz="2000" dirty="0" smtClean="0">
                <a:latin typeface="+mj-lt"/>
                <a:cs typeface="Courier New" pitchFamily="49" charset="0"/>
              </a:rPr>
              <a:t>for pivot tables</a:t>
            </a:r>
            <a:endParaRPr lang="en-US" sz="2000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Reducing Categories</a:t>
            </a:r>
          </a:p>
        </p:txBody>
      </p:sp>
      <p:sp>
        <p:nvSpPr>
          <p:cNvPr id="15363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A single categorical variable with </a:t>
            </a:r>
            <a:r>
              <a:rPr lang="en-US" altLang="en-US" sz="2000" i="1" dirty="0" smtClean="0">
                <a:latin typeface="Franklin Gothic Book" pitchFamily="34" charset="0"/>
              </a:rPr>
              <a:t>m</a:t>
            </a:r>
            <a:r>
              <a:rPr lang="en-US" altLang="en-US" sz="2000" dirty="0" smtClean="0">
                <a:latin typeface="Franklin Gothic Book" pitchFamily="34" charset="0"/>
              </a:rPr>
              <a:t> categories is typically transformed into </a:t>
            </a:r>
            <a:r>
              <a:rPr lang="en-US" altLang="en-US" sz="2000" i="1" dirty="0" smtClean="0">
                <a:latin typeface="Franklin Gothic Book" pitchFamily="34" charset="0"/>
              </a:rPr>
              <a:t>m</a:t>
            </a:r>
            <a:r>
              <a:rPr lang="en-US" altLang="en-US" sz="2000" dirty="0" smtClean="0">
                <a:latin typeface="Franklin Gothic Book" pitchFamily="34" charset="0"/>
              </a:rPr>
              <a:t> or </a:t>
            </a:r>
            <a:r>
              <a:rPr lang="en-US" altLang="en-US" sz="2000" i="1" dirty="0" smtClean="0">
                <a:latin typeface="Franklin Gothic Book" pitchFamily="34" charset="0"/>
              </a:rPr>
              <a:t>m-1</a:t>
            </a:r>
            <a:r>
              <a:rPr lang="en-US" altLang="en-US" sz="2000" dirty="0" smtClean="0">
                <a:latin typeface="Franklin Gothic Book" pitchFamily="34" charset="0"/>
              </a:rPr>
              <a:t> dummy variables (handled automatically by most R modeling functions</a:t>
            </a:r>
          </a:p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Each dummy variable takes the values 0 or 1</a:t>
            </a:r>
          </a:p>
          <a:p>
            <a:pPr marL="742950" lvl="1" indent="-285750" eaLnBrk="1" hangingPunct="1">
              <a:buFont typeface="Wingdings 2" pitchFamily="18" charset="2"/>
              <a:buNone/>
            </a:pPr>
            <a:r>
              <a:rPr lang="en-US" altLang="en-US" sz="2000" dirty="0" smtClean="0">
                <a:latin typeface="Franklin Gothic Book" pitchFamily="34" charset="0"/>
              </a:rPr>
              <a:t>0 = “no” for the category</a:t>
            </a:r>
          </a:p>
          <a:p>
            <a:pPr marL="742950" lvl="1" indent="-285750" eaLnBrk="1" hangingPunct="1">
              <a:buFont typeface="Wingdings 2" pitchFamily="18" charset="2"/>
              <a:buNone/>
            </a:pPr>
            <a:r>
              <a:rPr lang="en-US" altLang="en-US" sz="2000" dirty="0" smtClean="0">
                <a:latin typeface="Franklin Gothic Book" pitchFamily="34" charset="0"/>
              </a:rPr>
              <a:t>1 = “yes”</a:t>
            </a:r>
          </a:p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Problem: Can end up with too many variables</a:t>
            </a:r>
          </a:p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Solution: Reduce by combining categories that are close to each other</a:t>
            </a:r>
          </a:p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Use pivot tables to assess outcome variable sensitivity to the dummies</a:t>
            </a:r>
          </a:p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Exception: Naïve </a:t>
            </a:r>
            <a:r>
              <a:rPr lang="en-US" altLang="en-US" sz="2000" dirty="0" err="1" smtClean="0">
                <a:latin typeface="Franklin Gothic Book" pitchFamily="34" charset="0"/>
              </a:rPr>
              <a:t>Bayes</a:t>
            </a:r>
            <a:r>
              <a:rPr lang="en-US" altLang="en-US" sz="2000" dirty="0" smtClean="0">
                <a:latin typeface="Franklin Gothic Book" pitchFamily="34" charset="0"/>
              </a:rPr>
              <a:t> can handle categorical variables without transforming them into dummies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Combining Categories</a:t>
            </a:r>
          </a:p>
        </p:txBody>
      </p:sp>
      <p:sp>
        <p:nvSpPr>
          <p:cNvPr id="16388" name="Content Placeholder 4"/>
          <p:cNvSpPr>
            <a:spLocks noGrp="1"/>
          </p:cNvSpPr>
          <p:nvPr>
            <p:ph sz="quarter" idx="2"/>
          </p:nvPr>
        </p:nvSpPr>
        <p:spPr>
          <a:xfrm>
            <a:off x="1081088" y="1911350"/>
            <a:ext cx="6526212" cy="1290638"/>
          </a:xfrm>
        </p:spPr>
        <p:txBody>
          <a:bodyPr/>
          <a:lstStyle/>
          <a:p>
            <a:pPr marL="0" indent="0">
              <a:buFont typeface="Wingdings 2" pitchFamily="18" charset="2"/>
              <a:buNone/>
              <a:defRPr/>
            </a:pPr>
            <a:r>
              <a:rPr lang="en-US" dirty="0" smtClean="0">
                <a:latin typeface="+mj-lt"/>
              </a:rPr>
              <a:t>Many zoning categories are the same or similar with respect to CATMEDV</a:t>
            </a:r>
          </a:p>
        </p:txBody>
      </p:sp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2095" y="3125420"/>
            <a:ext cx="5236755" cy="297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Principal Components Analysis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057400"/>
            <a:ext cx="7772400" cy="3962400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Goal:</a:t>
            </a:r>
            <a:r>
              <a:rPr lang="en-US" altLang="en-US" smtClean="0">
                <a:latin typeface="Franklin Gothic Book" pitchFamily="34" charset="0"/>
              </a:rPr>
              <a:t> Reduce a set of numerical variables.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b="1" smtClean="0">
              <a:latin typeface="Franklin Gothic Book" pitchFamily="34" charset="0"/>
            </a:endParaRP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The idea</a:t>
            </a:r>
            <a:r>
              <a:rPr lang="en-US" altLang="en-US" smtClean="0">
                <a:latin typeface="Franklin Gothic Book" pitchFamily="34" charset="0"/>
              </a:rPr>
              <a:t>: Remove the overlap of information between these variable. [“Information” is measured by the sum of the variances of the variables.]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Final product:</a:t>
            </a:r>
            <a:r>
              <a:rPr lang="en-US" altLang="en-US" smtClean="0">
                <a:latin typeface="Franklin Gothic Book" pitchFamily="34" charset="0"/>
              </a:rPr>
              <a:t> A smaller number of numerical variables that contain most of the information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Principal Components Analysis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14400" y="1835150"/>
            <a:ext cx="7772400" cy="3962400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b="1" dirty="0" smtClean="0">
                <a:latin typeface="Franklin Gothic Book" pitchFamily="34" charset="0"/>
              </a:rPr>
              <a:t>How does PCA do this?</a:t>
            </a:r>
            <a:r>
              <a:rPr lang="en-US" dirty="0" smtClean="0">
                <a:latin typeface="Franklin Gothic Book" pitchFamily="34" charset="0"/>
              </a:rPr>
              <a:t> </a:t>
            </a:r>
          </a:p>
          <a:p>
            <a:pPr marL="284163" indent="-284163" eaLnBrk="1" hangingPunct="1">
              <a:defRPr/>
            </a:pPr>
            <a:r>
              <a:rPr lang="en-US" dirty="0" smtClean="0">
                <a:latin typeface="Franklin Gothic Book" pitchFamily="34" charset="0"/>
              </a:rPr>
              <a:t>Create new variables that are linear combinations of the original variables (i.e., they are weighted averages of the original variables). </a:t>
            </a:r>
          </a:p>
          <a:p>
            <a:pPr marL="284163" indent="-284163" eaLnBrk="1" hangingPunct="1">
              <a:defRPr/>
            </a:pPr>
            <a:endParaRPr lang="en-US" dirty="0" smtClean="0">
              <a:latin typeface="Franklin Gothic Book" pitchFamily="34" charset="0"/>
            </a:endParaRPr>
          </a:p>
          <a:p>
            <a:pPr marL="284163" indent="-284163" eaLnBrk="1" hangingPunct="1">
              <a:defRPr/>
            </a:pPr>
            <a:r>
              <a:rPr lang="en-US" dirty="0" smtClean="0">
                <a:latin typeface="Franklin Gothic Book" pitchFamily="34" charset="0"/>
              </a:rPr>
              <a:t>These linear combinations are uncorrelated (no information overlap), and only a few of them contain most of the original information.</a:t>
            </a:r>
          </a:p>
          <a:p>
            <a:pPr marL="233363" indent="-233363" eaLnBrk="1" hangingPunct="1">
              <a:defRPr/>
            </a:pPr>
            <a:endParaRPr lang="en-US" dirty="0" smtClean="0">
              <a:latin typeface="Franklin Gothic Book" pitchFamily="34" charset="0"/>
            </a:endParaRPr>
          </a:p>
          <a:p>
            <a:pPr marL="233363" indent="-233363" eaLnBrk="1" hangingPunct="1">
              <a:defRPr/>
            </a:pPr>
            <a:r>
              <a:rPr lang="en-US" dirty="0" smtClean="0">
                <a:latin typeface="Franklin Gothic Book" pitchFamily="34" charset="0"/>
              </a:rPr>
              <a:t>The new variables are called </a:t>
            </a:r>
            <a:r>
              <a:rPr lang="en-US" i="1" dirty="0" smtClean="0">
                <a:latin typeface="Franklin Gothic Book" pitchFamily="34" charset="0"/>
              </a:rPr>
              <a:t>principal components</a:t>
            </a:r>
            <a:r>
              <a:rPr lang="en-US" dirty="0" smtClean="0">
                <a:latin typeface="Franklin Gothic Book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 smtClean="0"/>
              <a:t>Example – Breakfast Cereals (excerpt)</a:t>
            </a:r>
            <a:r>
              <a:rPr lang="en-US" altLang="en-US" dirty="0" smtClean="0"/>
              <a:t>	</a:t>
            </a:r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928688" y="1911350"/>
            <a:ext cx="7072312" cy="34290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Description of Variables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675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Name</a:t>
            </a:r>
            <a:r>
              <a:rPr lang="en-US" altLang="en-US" smtClean="0">
                <a:latin typeface="Franklin Gothic Book" pitchFamily="34" charset="0"/>
              </a:rPr>
              <a:t>: name of cereal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mfr</a:t>
            </a:r>
            <a:r>
              <a:rPr lang="en-US" altLang="en-US" smtClean="0">
                <a:latin typeface="Franklin Gothic Book" pitchFamily="34" charset="0"/>
              </a:rPr>
              <a:t>: manufacturer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type</a:t>
            </a:r>
            <a:r>
              <a:rPr lang="en-US" altLang="en-US" smtClean="0">
                <a:latin typeface="Franklin Gothic Book" pitchFamily="34" charset="0"/>
              </a:rPr>
              <a:t>: cold or hot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calories</a:t>
            </a:r>
            <a:r>
              <a:rPr lang="en-US" altLang="en-US" smtClean="0">
                <a:latin typeface="Franklin Gothic Book" pitchFamily="34" charset="0"/>
              </a:rPr>
              <a:t>: calories per serving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protein</a:t>
            </a:r>
            <a:r>
              <a:rPr lang="en-US" altLang="en-US" smtClean="0">
                <a:latin typeface="Franklin Gothic Book" pitchFamily="34" charset="0"/>
              </a:rPr>
              <a:t>: grams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fat</a:t>
            </a:r>
            <a:r>
              <a:rPr lang="en-US" altLang="en-US" smtClean="0">
                <a:latin typeface="Franklin Gothic Book" pitchFamily="34" charset="0"/>
              </a:rPr>
              <a:t>: grams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sodium</a:t>
            </a:r>
            <a:r>
              <a:rPr lang="en-US" altLang="en-US" smtClean="0">
                <a:latin typeface="Franklin Gothic Book" pitchFamily="34" charset="0"/>
              </a:rPr>
              <a:t>: mg. 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fiber</a:t>
            </a:r>
            <a:r>
              <a:rPr lang="en-US" altLang="en-US" smtClean="0">
                <a:latin typeface="Franklin Gothic Book" pitchFamily="34" charset="0"/>
              </a:rPr>
              <a:t>: grams  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</p:txBody>
      </p:sp>
      <p:sp>
        <p:nvSpPr>
          <p:cNvPr id="20484" name="Content Placeholder 3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675" cy="4572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carbo</a:t>
            </a:r>
            <a:r>
              <a:rPr lang="en-US" altLang="en-US" smtClean="0">
                <a:latin typeface="Franklin Gothic Book" pitchFamily="34" charset="0"/>
              </a:rPr>
              <a:t>: grams complex carbohydrates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sugars</a:t>
            </a:r>
            <a:r>
              <a:rPr lang="en-US" altLang="en-US" smtClean="0">
                <a:latin typeface="Franklin Gothic Book" pitchFamily="34" charset="0"/>
              </a:rPr>
              <a:t>: grams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potass</a:t>
            </a:r>
            <a:r>
              <a:rPr lang="en-US" altLang="en-US" smtClean="0">
                <a:latin typeface="Franklin Gothic Book" pitchFamily="34" charset="0"/>
              </a:rPr>
              <a:t>: mg.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vitamins</a:t>
            </a:r>
            <a:r>
              <a:rPr lang="en-US" altLang="en-US" smtClean="0">
                <a:latin typeface="Franklin Gothic Book" pitchFamily="34" charset="0"/>
              </a:rPr>
              <a:t>: % FDA rec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shelf</a:t>
            </a:r>
            <a:r>
              <a:rPr lang="en-US" altLang="en-US" smtClean="0">
                <a:latin typeface="Franklin Gothic Book" pitchFamily="34" charset="0"/>
              </a:rPr>
              <a:t>: display shelf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weight</a:t>
            </a:r>
            <a:r>
              <a:rPr lang="en-US" altLang="en-US" smtClean="0">
                <a:latin typeface="Franklin Gothic Book" pitchFamily="34" charset="0"/>
              </a:rPr>
              <a:t>: oz. 1 serving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cups</a:t>
            </a:r>
            <a:r>
              <a:rPr lang="en-US" altLang="en-US" smtClean="0">
                <a:latin typeface="Franklin Gothic Book" pitchFamily="34" charset="0"/>
              </a:rPr>
              <a:t>: in one serving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b="1" smtClean="0">
                <a:latin typeface="Franklin Gothic Book" pitchFamily="34" charset="0"/>
              </a:rPr>
              <a:t>rating</a:t>
            </a:r>
            <a:r>
              <a:rPr lang="en-US" altLang="en-US" smtClean="0">
                <a:latin typeface="Franklin Gothic Book" pitchFamily="34" charset="0"/>
              </a:rPr>
              <a:t>: consumer reports 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77512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Consider calories &amp; ratings covariance matrix</a:t>
            </a:r>
          </a:p>
        </p:txBody>
      </p:sp>
      <p:sp>
        <p:nvSpPr>
          <p:cNvPr id="21507" name="Content Placeholder 6"/>
          <p:cNvSpPr>
            <a:spLocks noGrp="1"/>
          </p:cNvSpPr>
          <p:nvPr>
            <p:ph sz="quarter" idx="2"/>
          </p:nvPr>
        </p:nvSpPr>
        <p:spPr>
          <a:xfrm>
            <a:off x="853145" y="3429000"/>
            <a:ext cx="7361237" cy="2276475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Total variance (=“information”) is sum of individual variances: 379.63 + 197.32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Calories accounts for 379.63/577 = 66%</a:t>
            </a:r>
          </a:p>
          <a:p>
            <a:pPr eaLnBrk="1" hangingPunct="1"/>
            <a:r>
              <a:rPr lang="en-US" altLang="en-US" dirty="0" smtClean="0">
                <a:latin typeface="Franklin Gothic Book" pitchFamily="34" charset="0"/>
              </a:rPr>
              <a:t>If we want to make do with just calories, we lose 34% of the variation</a:t>
            </a:r>
          </a:p>
        </p:txBody>
      </p:sp>
      <p:pic>
        <p:nvPicPr>
          <p:cNvPr id="2150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211388" y="2133600"/>
            <a:ext cx="3954462" cy="9906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29040" y="393200"/>
            <a:ext cx="7772400" cy="715962"/>
          </a:xfrm>
        </p:spPr>
        <p:txBody>
          <a:bodyPr/>
          <a:lstStyle/>
          <a:p>
            <a:pPr algn="ctr" eaLnBrk="1" hangingPunct="1"/>
            <a:r>
              <a:rPr lang="en-US" altLang="en-US" sz="2800" dirty="0" smtClean="0"/>
              <a:t>Using linear combinations to redistribute the variability in a more polarized way</a:t>
            </a:r>
          </a:p>
        </p:txBody>
      </p:sp>
      <p:sp>
        <p:nvSpPr>
          <p:cNvPr id="22531" name="Content Placeholder 3"/>
          <p:cNvSpPr>
            <a:spLocks noGrp="1"/>
          </p:cNvSpPr>
          <p:nvPr>
            <p:ph sz="quarter" idx="2"/>
          </p:nvPr>
        </p:nvSpPr>
        <p:spPr>
          <a:xfrm>
            <a:off x="473075" y="1303338"/>
            <a:ext cx="7893050" cy="1822450"/>
          </a:xfrm>
        </p:spPr>
        <p:txBody>
          <a:bodyPr/>
          <a:lstStyle/>
          <a:p>
            <a:pPr marL="381000" indent="-381000" eaLnBrk="1" hangingPunct="1">
              <a:buFont typeface="Wingdings 2" pitchFamily="18" charset="2"/>
              <a:buNone/>
            </a:pPr>
            <a:r>
              <a:rPr lang="en-US" altLang="en-US" smtClean="0">
                <a:latin typeface="Franklin Gothic Book" pitchFamily="34" charset="0"/>
              </a:rPr>
              <a:t>Z</a:t>
            </a:r>
            <a:r>
              <a:rPr lang="en-US" altLang="en-US" baseline="-25000" smtClean="0">
                <a:latin typeface="Franklin Gothic Book" pitchFamily="34" charset="0"/>
              </a:rPr>
              <a:t>1</a:t>
            </a:r>
            <a:r>
              <a:rPr lang="en-US" altLang="en-US" smtClean="0">
                <a:latin typeface="Franklin Gothic Book" pitchFamily="34" charset="0"/>
              </a:rPr>
              <a:t> and Z</a:t>
            </a:r>
            <a:r>
              <a:rPr lang="en-US" altLang="en-US" baseline="-25000" smtClean="0">
                <a:latin typeface="Franklin Gothic Book" pitchFamily="34" charset="0"/>
              </a:rPr>
              <a:t>2</a:t>
            </a:r>
            <a:r>
              <a:rPr lang="en-US" altLang="en-US" smtClean="0">
                <a:latin typeface="Franklin Gothic Book" pitchFamily="34" charset="0"/>
              </a:rPr>
              <a:t> are two linear combinations.</a:t>
            </a:r>
          </a:p>
          <a:p>
            <a:pPr marL="381000" indent="-381000" eaLnBrk="1" hangingPunct="1"/>
            <a:r>
              <a:rPr lang="en-US" altLang="en-US" smtClean="0">
                <a:latin typeface="Franklin Gothic Book" pitchFamily="34" charset="0"/>
              </a:rPr>
              <a:t>Z</a:t>
            </a:r>
            <a:r>
              <a:rPr lang="en-US" altLang="en-US" baseline="-25000" smtClean="0">
                <a:latin typeface="Franklin Gothic Book" pitchFamily="34" charset="0"/>
              </a:rPr>
              <a:t>1</a:t>
            </a:r>
            <a:r>
              <a:rPr lang="en-US" altLang="en-US" smtClean="0">
                <a:latin typeface="Franklin Gothic Book" pitchFamily="34" charset="0"/>
              </a:rPr>
              <a:t> has the highest variation (spread of values)</a:t>
            </a:r>
          </a:p>
          <a:p>
            <a:pPr marL="381000" indent="-381000" eaLnBrk="1" hangingPunct="1"/>
            <a:r>
              <a:rPr lang="en-US" altLang="en-US" smtClean="0">
                <a:latin typeface="Franklin Gothic Book" pitchFamily="34" charset="0"/>
              </a:rPr>
              <a:t>Z</a:t>
            </a:r>
            <a:r>
              <a:rPr lang="en-US" altLang="en-US" baseline="-25000" smtClean="0">
                <a:latin typeface="Franklin Gothic Book" pitchFamily="34" charset="0"/>
              </a:rPr>
              <a:t>2</a:t>
            </a:r>
            <a:r>
              <a:rPr lang="en-US" altLang="en-US" smtClean="0">
                <a:latin typeface="Franklin Gothic Book" pitchFamily="34" charset="0"/>
              </a:rPr>
              <a:t> has the lowest variation</a:t>
            </a:r>
          </a:p>
        </p:txBody>
      </p:sp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60305" y="2821840"/>
            <a:ext cx="538162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PCA output for these 2 variables</a:t>
            </a:r>
          </a:p>
        </p:txBody>
      </p:sp>
      <p:sp>
        <p:nvSpPr>
          <p:cNvPr id="23555" name="Content Placeholder 3"/>
          <p:cNvSpPr>
            <a:spLocks noGrp="1"/>
          </p:cNvSpPr>
          <p:nvPr>
            <p:ph sz="quarter" idx="2"/>
          </p:nvPr>
        </p:nvSpPr>
        <p:spPr>
          <a:xfrm>
            <a:off x="321880" y="2366470"/>
            <a:ext cx="7741290" cy="379475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sz="1600" dirty="0" smtClean="0">
                <a:latin typeface="Franklin Gothic Book" pitchFamily="34" charset="0"/>
              </a:rPr>
              <a:t>Weights to project original data onto Z</a:t>
            </a:r>
            <a:r>
              <a:rPr lang="en-US" sz="1600" baseline="-25000" dirty="0" smtClean="0">
                <a:latin typeface="Franklin Gothic Book" pitchFamily="34" charset="0"/>
              </a:rPr>
              <a:t>1</a:t>
            </a:r>
            <a:r>
              <a:rPr lang="en-US" sz="1600" dirty="0" smtClean="0">
                <a:latin typeface="Franklin Gothic Book" pitchFamily="34" charset="0"/>
              </a:rPr>
              <a:t> &amp; Z</a:t>
            </a:r>
            <a:r>
              <a:rPr lang="en-US" sz="1600" baseline="-25000" dirty="0" smtClean="0">
                <a:latin typeface="Franklin Gothic Book" pitchFamily="34" charset="0"/>
              </a:rPr>
              <a:t>2, </a:t>
            </a:r>
            <a:r>
              <a:rPr lang="en-US" sz="1600" dirty="0" smtClean="0">
                <a:latin typeface="Franklin Gothic Book" pitchFamily="34" charset="0"/>
              </a:rPr>
              <a:t> e.g. (-0.847, 0.532) are weights for Z</a:t>
            </a:r>
            <a:r>
              <a:rPr lang="en-US" sz="1600" baseline="-25000" dirty="0" smtClean="0">
                <a:latin typeface="Franklin Gothic Book" pitchFamily="34" charset="0"/>
              </a:rPr>
              <a:t>1</a:t>
            </a:r>
            <a:endParaRPr lang="en-US" sz="1600" dirty="0" smtClean="0">
              <a:latin typeface="Franklin Gothic Book" pitchFamily="34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dirty="0" smtClean="0">
              <a:latin typeface="Franklin Gothic Book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5985" y="1531625"/>
            <a:ext cx="85002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pcs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prcomp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data.frame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cereals.df$calories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cereals.df$rating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summary(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pcs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60" y="2821840"/>
            <a:ext cx="69823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PC1        PC2</a:t>
            </a:r>
          </a:p>
          <a:p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cereals.df.calories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0.8470535  0.5315077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cereals.df.rating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-0.5315077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0.8470535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9565" y="4112055"/>
            <a:ext cx="77412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Importance of components:</a:t>
            </a:r>
          </a:p>
          <a:p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PC1    PC2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Standard deviation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22.3165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8.8844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Proportion of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Variance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0.8632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0.1368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Cumulative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Proportion   0.8632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1.0000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420210" y="5174585"/>
            <a:ext cx="1593795" cy="8348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57680" y="4871005"/>
            <a:ext cx="1138425" cy="3035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014004" y="5781745"/>
            <a:ext cx="265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86% of the total variance is accounted for by component 1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551837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      PC1        PC2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[1,]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-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44.921528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 2.1971833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[2,]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15.725265    -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0.3824165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[3,]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-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40.149935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-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5.4072123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[4,]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-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75.310772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12.9991256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[5,]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  7.041508    -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5.3576857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50" y="1000360"/>
            <a:ext cx="7665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Principal Component Scores for the First Five Records 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1355" y="1303940"/>
            <a:ext cx="62325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pcs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&lt;-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prcomp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na.omit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cereals.df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[,-c(1:3)]))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&gt; summary(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pcs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50" y="393200"/>
            <a:ext cx="721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PCA for the 13 Numerical Variables in the Cereals Data</a:t>
            </a:r>
            <a:endParaRPr lang="en-US" dirty="0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3145" y="2138785"/>
            <a:ext cx="6678760" cy="1755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3357680" y="2897735"/>
            <a:ext cx="683055" cy="22768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040735" y="3125420"/>
            <a:ext cx="379475" cy="13661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22835" y="4567425"/>
            <a:ext cx="5009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first two components account for 93% of the total variance, so using 2-3 components in further modeling would probably be sufficient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3145" y="2138784"/>
            <a:ext cx="7139401" cy="2959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853145" y="544990"/>
            <a:ext cx="7134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The Weightings for the First Five Components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Generalization 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sz="quarter" idx="1"/>
          </p:nvPr>
        </p:nvSpPr>
        <p:spPr>
          <a:xfrm>
            <a:off x="853145" y="1759310"/>
            <a:ext cx="7772400" cy="4038600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z="2400" dirty="0" smtClean="0">
                <a:latin typeface="Franklin Gothic Book" pitchFamily="34" charset="0"/>
              </a:rPr>
              <a:t>X</a:t>
            </a:r>
            <a:r>
              <a:rPr lang="en-US" altLang="en-US" sz="2400" baseline="-25000" dirty="0" smtClean="0">
                <a:latin typeface="Franklin Gothic Book" pitchFamily="34" charset="0"/>
              </a:rPr>
              <a:t>1</a:t>
            </a:r>
            <a:r>
              <a:rPr lang="en-US" altLang="en-US" sz="2400" dirty="0" smtClean="0">
                <a:latin typeface="Franklin Gothic Book" pitchFamily="34" charset="0"/>
              </a:rPr>
              <a:t>, X</a:t>
            </a:r>
            <a:r>
              <a:rPr lang="en-US" altLang="en-US" sz="2400" baseline="-25000" dirty="0" smtClean="0">
                <a:latin typeface="Franklin Gothic Book" pitchFamily="34" charset="0"/>
              </a:rPr>
              <a:t>2</a:t>
            </a:r>
            <a:r>
              <a:rPr lang="en-US" altLang="en-US" sz="2400" dirty="0" smtClean="0">
                <a:latin typeface="Franklin Gothic Book" pitchFamily="34" charset="0"/>
              </a:rPr>
              <a:t>, X</a:t>
            </a:r>
            <a:r>
              <a:rPr lang="en-US" altLang="en-US" sz="2400" baseline="-25000" dirty="0" smtClean="0">
                <a:latin typeface="Franklin Gothic Book" pitchFamily="34" charset="0"/>
              </a:rPr>
              <a:t>3</a:t>
            </a:r>
            <a:r>
              <a:rPr lang="en-US" altLang="en-US" sz="2400" dirty="0" smtClean="0">
                <a:latin typeface="Franklin Gothic Book" pitchFamily="34" charset="0"/>
              </a:rPr>
              <a:t>, … </a:t>
            </a:r>
            <a:r>
              <a:rPr lang="en-US" altLang="en-US" sz="2400" dirty="0" err="1" smtClean="0">
                <a:latin typeface="Franklin Gothic Book" pitchFamily="34" charset="0"/>
              </a:rPr>
              <a:t>X</a:t>
            </a:r>
            <a:r>
              <a:rPr lang="en-US" altLang="en-US" sz="2400" baseline="-25000" dirty="0" err="1" smtClean="0">
                <a:latin typeface="Franklin Gothic Book" pitchFamily="34" charset="0"/>
              </a:rPr>
              <a:t>p</a:t>
            </a:r>
            <a:r>
              <a:rPr lang="en-US" altLang="en-US" sz="2400" dirty="0" smtClean="0">
                <a:latin typeface="Franklin Gothic Book" pitchFamily="34" charset="0"/>
              </a:rPr>
              <a:t>, original </a:t>
            </a:r>
            <a:r>
              <a:rPr lang="en-US" altLang="en-US" sz="2400" i="1" dirty="0" smtClean="0">
                <a:latin typeface="Franklin Gothic Book" pitchFamily="34" charset="0"/>
              </a:rPr>
              <a:t>p</a:t>
            </a:r>
            <a:r>
              <a:rPr lang="en-US" altLang="en-US" sz="2400" dirty="0" smtClean="0">
                <a:latin typeface="Franklin Gothic Book" pitchFamily="34" charset="0"/>
              </a:rPr>
              <a:t> variables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z="2400" dirty="0" smtClean="0">
              <a:latin typeface="Franklin Gothic Book" pitchFamily="34" charset="0"/>
            </a:endParaRP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z="2400" dirty="0" smtClean="0">
                <a:latin typeface="Franklin Gothic Book" pitchFamily="34" charset="0"/>
              </a:rPr>
              <a:t>Z</a:t>
            </a:r>
            <a:r>
              <a:rPr lang="en-US" altLang="en-US" sz="2400" baseline="-25000" dirty="0" smtClean="0">
                <a:latin typeface="Franklin Gothic Book" pitchFamily="34" charset="0"/>
              </a:rPr>
              <a:t>1</a:t>
            </a:r>
            <a:r>
              <a:rPr lang="en-US" altLang="en-US" sz="2400" dirty="0" smtClean="0">
                <a:latin typeface="Franklin Gothic Book" pitchFamily="34" charset="0"/>
              </a:rPr>
              <a:t>, Z</a:t>
            </a:r>
            <a:r>
              <a:rPr lang="en-US" altLang="en-US" sz="2400" baseline="-25000" dirty="0" smtClean="0">
                <a:latin typeface="Franklin Gothic Book" pitchFamily="34" charset="0"/>
              </a:rPr>
              <a:t>2</a:t>
            </a:r>
            <a:r>
              <a:rPr lang="en-US" altLang="en-US" sz="2400" dirty="0" smtClean="0">
                <a:latin typeface="Franklin Gothic Book" pitchFamily="34" charset="0"/>
              </a:rPr>
              <a:t>, Z</a:t>
            </a:r>
            <a:r>
              <a:rPr lang="en-US" altLang="en-US" sz="2400" baseline="-25000" dirty="0" smtClean="0">
                <a:latin typeface="Franklin Gothic Book" pitchFamily="34" charset="0"/>
              </a:rPr>
              <a:t>3</a:t>
            </a:r>
            <a:r>
              <a:rPr lang="en-US" altLang="en-US" sz="2400" dirty="0" smtClean="0">
                <a:latin typeface="Franklin Gothic Book" pitchFamily="34" charset="0"/>
              </a:rPr>
              <a:t>, … </a:t>
            </a:r>
            <a:r>
              <a:rPr lang="en-US" altLang="en-US" sz="2400" dirty="0" err="1" smtClean="0">
                <a:latin typeface="Franklin Gothic Book" pitchFamily="34" charset="0"/>
              </a:rPr>
              <a:t>Z</a:t>
            </a:r>
            <a:r>
              <a:rPr lang="en-US" altLang="en-US" sz="2400" baseline="-25000" dirty="0" err="1" smtClean="0">
                <a:latin typeface="Franklin Gothic Book" pitchFamily="34" charset="0"/>
              </a:rPr>
              <a:t>p</a:t>
            </a:r>
            <a:r>
              <a:rPr lang="en-US" altLang="en-US" sz="2400" dirty="0" smtClean="0">
                <a:latin typeface="Franklin Gothic Book" pitchFamily="34" charset="0"/>
              </a:rPr>
              <a:t>, weighted averages of original variables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z="2400" dirty="0" smtClean="0">
              <a:latin typeface="Franklin Gothic Book" pitchFamily="34" charset="0"/>
            </a:endParaRP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z="2400" dirty="0" smtClean="0">
                <a:latin typeface="Franklin Gothic Book" pitchFamily="34" charset="0"/>
              </a:rPr>
              <a:t>All pairs of Z variables have 0 correlation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z="2400" dirty="0" smtClean="0">
              <a:latin typeface="Franklin Gothic Book" pitchFamily="34" charset="0"/>
            </a:endParaRP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z="2400" dirty="0" smtClean="0">
                <a:latin typeface="Franklin Gothic Book" pitchFamily="34" charset="0"/>
              </a:rPr>
              <a:t>Order Z’s by variance (z</a:t>
            </a:r>
            <a:r>
              <a:rPr lang="en-US" altLang="en-US" sz="2400" baseline="-25000" dirty="0" smtClean="0">
                <a:latin typeface="Franklin Gothic Book" pitchFamily="34" charset="0"/>
              </a:rPr>
              <a:t>1 </a:t>
            </a:r>
            <a:r>
              <a:rPr lang="en-US" altLang="en-US" sz="2400" dirty="0" smtClean="0">
                <a:latin typeface="Franklin Gothic Book" pitchFamily="34" charset="0"/>
              </a:rPr>
              <a:t>largest, </a:t>
            </a:r>
            <a:r>
              <a:rPr lang="en-US" altLang="en-US" sz="2400" dirty="0" err="1" smtClean="0">
                <a:latin typeface="Franklin Gothic Book" pitchFamily="34" charset="0"/>
              </a:rPr>
              <a:t>Z</a:t>
            </a:r>
            <a:r>
              <a:rPr lang="en-US" altLang="en-US" sz="2400" baseline="-25000" dirty="0" err="1" smtClean="0">
                <a:latin typeface="Franklin Gothic Book" pitchFamily="34" charset="0"/>
              </a:rPr>
              <a:t>p</a:t>
            </a:r>
            <a:r>
              <a:rPr lang="en-US" altLang="en-US" sz="2400" dirty="0" smtClean="0">
                <a:latin typeface="Franklin Gothic Book" pitchFamily="34" charset="0"/>
              </a:rPr>
              <a:t> smallest)</a:t>
            </a:r>
          </a:p>
          <a:p>
            <a:pPr marL="0" indent="0" eaLnBrk="1" hangingPunct="1">
              <a:buFont typeface="Wingdings 2" pitchFamily="18" charset="2"/>
              <a:buNone/>
            </a:pPr>
            <a:endParaRPr lang="en-US" altLang="en-US" sz="2400" dirty="0" smtClean="0">
              <a:latin typeface="Franklin Gothic Book" pitchFamily="34" charset="0"/>
            </a:endParaRPr>
          </a:p>
          <a:p>
            <a:pPr marL="0" indent="0" eaLnBrk="1" hangingPunct="1">
              <a:buFont typeface="Wingdings 2" pitchFamily="18" charset="2"/>
              <a:buNone/>
            </a:pPr>
            <a:r>
              <a:rPr lang="en-US" altLang="en-US" sz="2400" dirty="0" smtClean="0">
                <a:latin typeface="Franklin Gothic Book" pitchFamily="34" charset="0"/>
              </a:rPr>
              <a:t>Usually the first few Z variables contain most of the information, and so the rest can be dropped.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Normalizing data</a:t>
            </a:r>
          </a:p>
        </p:txBody>
      </p:sp>
      <p:sp>
        <p:nvSpPr>
          <p:cNvPr id="28675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In these results, sodium dominates first PC </a:t>
            </a:r>
          </a:p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Just because of the way it is measured (mg), its scale is greater than almost all other variables</a:t>
            </a:r>
          </a:p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Hence its variance will be a dominant component of the total variance</a:t>
            </a:r>
          </a:p>
          <a:p>
            <a:pPr eaLnBrk="1" hangingPunct="1"/>
            <a:r>
              <a:rPr lang="en-US" altLang="en-US" sz="2000" u="sng" dirty="0" smtClean="0">
                <a:latin typeface="Franklin Gothic Book" pitchFamily="34" charset="0"/>
              </a:rPr>
              <a:t>Normalize</a:t>
            </a:r>
            <a:r>
              <a:rPr lang="en-US" altLang="en-US" sz="2000" dirty="0" smtClean="0">
                <a:latin typeface="Franklin Gothic Book" pitchFamily="34" charset="0"/>
              </a:rPr>
              <a:t> each variable to remove scale effect</a:t>
            </a:r>
          </a:p>
          <a:p>
            <a:pPr lvl="2" eaLnBrk="1" hangingPunct="1">
              <a:buFont typeface="Wingdings 2" pitchFamily="18" charset="2"/>
              <a:buNone/>
            </a:pPr>
            <a:r>
              <a:rPr lang="en-US" altLang="en-US" dirty="0" smtClean="0">
                <a:latin typeface="Franklin Gothic Book" pitchFamily="34" charset="0"/>
              </a:rPr>
              <a:t>Divide by std. deviation (may subtract mean first)</a:t>
            </a:r>
          </a:p>
          <a:p>
            <a:pPr eaLnBrk="1" hangingPunct="1"/>
            <a:r>
              <a:rPr lang="en-US" altLang="en-US" sz="2000" dirty="0" smtClean="0">
                <a:latin typeface="Franklin Gothic Book" pitchFamily="34" charset="0"/>
              </a:rPr>
              <a:t>Normalization (= standardization) is usually performed in PCA; otherwise measurement units affect results</a:t>
            </a:r>
          </a:p>
          <a:p>
            <a:pPr eaLnBrk="1" hangingPunct="1"/>
            <a:endParaRPr lang="en-US" altLang="en-US" sz="2000" dirty="0" smtClean="0">
              <a:latin typeface="Franklin Gothic Book" pitchFamily="34" charset="0"/>
            </a:endParaRPr>
          </a:p>
          <a:p>
            <a:pPr eaLnBrk="1" hangingPunct="1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 pcs.cor &lt;-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prcomp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na.omit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cereals.df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[,-c(1:3)]), scale. = T)</a:t>
            </a:r>
            <a:endParaRPr lang="en-US" altLang="en-US" sz="16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altLang="en-US" dirty="0" smtClean="0">
              <a:latin typeface="Franklin Gothic Book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7152430" y="5022795"/>
            <a:ext cx="1517900" cy="3794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469375" y="5326375"/>
            <a:ext cx="683055" cy="379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75580" y="5705850"/>
            <a:ext cx="2884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Normalize the variables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880" y="1911100"/>
            <a:ext cx="8210199" cy="311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7775" y="469095"/>
            <a:ext cx="8120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PCA Output Using all 13 </a:t>
            </a:r>
            <a:r>
              <a:rPr lang="en-US" sz="2400" b="1" i="1" dirty="0" smtClean="0"/>
              <a:t>Normalized</a:t>
            </a:r>
            <a:r>
              <a:rPr lang="en-US" sz="2400" dirty="0" smtClean="0"/>
              <a:t> Numerical Variables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250" y="1424846"/>
            <a:ext cx="7437710" cy="3928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77250" y="544990"/>
            <a:ext cx="758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Weightings for the First Five </a:t>
            </a:r>
            <a:r>
              <a:rPr lang="en-US" sz="2400" b="1" i="1" dirty="0" smtClean="0"/>
              <a:t>Normalized</a:t>
            </a:r>
            <a:r>
              <a:rPr lang="en-US" sz="2400" dirty="0" smtClean="0"/>
              <a:t> Components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PCA in Classification/Prediction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12888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Apply PCA to training data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Decide how many PC’s to use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Use variable weights in those PC’s with validation/new data</a:t>
            </a:r>
          </a:p>
          <a:p>
            <a:pPr eaLnBrk="1" hangingPunct="1"/>
            <a:r>
              <a:rPr lang="en-US" altLang="en-US" smtClean="0">
                <a:latin typeface="Franklin Gothic Book" pitchFamily="34" charset="0"/>
              </a:rPr>
              <a:t>This creates a new reduced set of predictors in validation/new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625475" y="274638"/>
            <a:ext cx="8272463" cy="1143000"/>
          </a:xfrm>
        </p:spPr>
        <p:txBody>
          <a:bodyPr/>
          <a:lstStyle/>
          <a:p>
            <a:pPr algn="ctr"/>
            <a:r>
              <a:rPr lang="en-US" altLang="en-US" sz="3600" smtClean="0"/>
              <a:t>Regression-Based </a:t>
            </a:r>
            <a:br>
              <a:rPr lang="en-US" altLang="en-US" sz="3600" smtClean="0"/>
            </a:br>
            <a:r>
              <a:rPr lang="en-US" altLang="en-US" sz="3600" smtClean="0"/>
              <a:t>Dimension Reduction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82750"/>
            <a:ext cx="6769100" cy="4337050"/>
          </a:xfrm>
        </p:spPr>
        <p:txBody>
          <a:bodyPr/>
          <a:lstStyle/>
          <a:p>
            <a:pPr>
              <a:defRPr/>
            </a:pPr>
            <a:r>
              <a:rPr lang="en-US" smtClean="0">
                <a:latin typeface="+mj-lt"/>
              </a:rPr>
              <a:t>Multiple Linear Regression or Logistic Regression</a:t>
            </a:r>
          </a:p>
          <a:p>
            <a:pPr>
              <a:defRPr/>
            </a:pPr>
            <a:r>
              <a:rPr lang="en-US" smtClean="0">
                <a:latin typeface="+mj-lt"/>
              </a:rPr>
              <a:t>Use subset selection</a:t>
            </a:r>
          </a:p>
          <a:p>
            <a:pPr>
              <a:defRPr/>
            </a:pPr>
            <a:r>
              <a:rPr lang="en-US" smtClean="0">
                <a:latin typeface="+mj-lt"/>
              </a:rPr>
              <a:t>Algorithm chooses a subset of variables</a:t>
            </a:r>
          </a:p>
          <a:p>
            <a:pPr>
              <a:defRPr/>
            </a:pPr>
            <a:r>
              <a:rPr lang="en-US" smtClean="0">
                <a:latin typeface="+mj-lt"/>
              </a:rPr>
              <a:t>This procedure is integrated directly into the predictive task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Summary</a:t>
            </a:r>
          </a:p>
        </p:txBody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473075" y="1600200"/>
            <a:ext cx="8348663" cy="50165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smtClean="0">
                <a:latin typeface="Franklin Gothic Book" pitchFamily="34" charset="0"/>
              </a:rPr>
              <a:t>Data summarization</a:t>
            </a:r>
            <a:r>
              <a:rPr lang="en-US" altLang="en-US" smtClean="0">
                <a:latin typeface="Franklin Gothic Book" pitchFamily="34" charset="0"/>
              </a:rPr>
              <a:t> is an important for data exploration</a:t>
            </a:r>
          </a:p>
          <a:p>
            <a:pPr>
              <a:lnSpc>
                <a:spcPct val="90000"/>
              </a:lnSpc>
            </a:pPr>
            <a:r>
              <a:rPr lang="en-US" altLang="en-US" b="1" smtClean="0">
                <a:latin typeface="Franklin Gothic Book" pitchFamily="34" charset="0"/>
              </a:rPr>
              <a:t>Data summaries</a:t>
            </a:r>
            <a:r>
              <a:rPr lang="en-US" altLang="en-US" smtClean="0">
                <a:latin typeface="Franklin Gothic Book" pitchFamily="34" charset="0"/>
              </a:rPr>
              <a:t> include numerical metrics (average, median, etc.) and graphical summaries</a:t>
            </a:r>
          </a:p>
          <a:p>
            <a:pPr>
              <a:lnSpc>
                <a:spcPct val="90000"/>
              </a:lnSpc>
            </a:pPr>
            <a:r>
              <a:rPr lang="en-US" altLang="en-US" b="1" smtClean="0">
                <a:latin typeface="Franklin Gothic Book" pitchFamily="34" charset="0"/>
              </a:rPr>
              <a:t>Data reduction</a:t>
            </a:r>
            <a:r>
              <a:rPr lang="en-US" altLang="en-US" smtClean="0">
                <a:latin typeface="Franklin Gothic Book" pitchFamily="34" charset="0"/>
              </a:rPr>
              <a:t> is useful for compressing the information in the data into a smaller subset</a:t>
            </a:r>
          </a:p>
          <a:p>
            <a:pPr lvl="1">
              <a:lnSpc>
                <a:spcPct val="90000"/>
              </a:lnSpc>
            </a:pPr>
            <a:r>
              <a:rPr lang="en-US" altLang="en-US" smtClean="0">
                <a:latin typeface="Franklin Gothic Book" pitchFamily="34" charset="0"/>
              </a:rPr>
              <a:t>Categorical variables can be reduced by combining similar categories</a:t>
            </a:r>
          </a:p>
          <a:p>
            <a:pPr lvl="1">
              <a:lnSpc>
                <a:spcPct val="90000"/>
              </a:lnSpc>
            </a:pPr>
            <a:r>
              <a:rPr lang="en-US" altLang="en-US" smtClean="0">
                <a:latin typeface="Franklin Gothic Book" pitchFamily="34" charset="0"/>
              </a:rPr>
              <a:t>Principal components analysis transforms an original set of numerical data into a smaller set of weighted averages of the original data that contain most of the original information in less variables.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3766</TotalTime>
  <Words>1335</Words>
  <Application>Microsoft Office PowerPoint</Application>
  <PresentationFormat>On-screen Show (4:3)</PresentationFormat>
  <Paragraphs>208</Paragraphs>
  <Slides>27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Equity</vt:lpstr>
      <vt:lpstr>Chapter 4 –Dimension Reduction</vt:lpstr>
      <vt:lpstr>Exploring the data </vt:lpstr>
      <vt:lpstr>Slide 3</vt:lpstr>
      <vt:lpstr>Slide 4</vt:lpstr>
      <vt:lpstr>Slide 5</vt:lpstr>
      <vt:lpstr>Slide 6</vt:lpstr>
      <vt:lpstr>Slide 7</vt:lpstr>
      <vt:lpstr>Slide 8</vt:lpstr>
      <vt:lpstr>Reducing Categories</vt:lpstr>
      <vt:lpstr>Combining Categories</vt:lpstr>
      <vt:lpstr>Principal Components Analysis</vt:lpstr>
      <vt:lpstr>Principal Components Analysis</vt:lpstr>
      <vt:lpstr>Example – Breakfast Cereals (excerpt) </vt:lpstr>
      <vt:lpstr>Description of Variables</vt:lpstr>
      <vt:lpstr>Consider calories &amp; ratings covariance matrix</vt:lpstr>
      <vt:lpstr>Using linear combinations to redistribute the variability in a more polarized way</vt:lpstr>
      <vt:lpstr>PCA output for these 2 variables</vt:lpstr>
      <vt:lpstr>Slide 18</vt:lpstr>
      <vt:lpstr>Slide 19</vt:lpstr>
      <vt:lpstr>Slide 20</vt:lpstr>
      <vt:lpstr>Generalization </vt:lpstr>
      <vt:lpstr>Normalizing data</vt:lpstr>
      <vt:lpstr>Slide 23</vt:lpstr>
      <vt:lpstr>Slide 24</vt:lpstr>
      <vt:lpstr>PCA in Classification/Prediction</vt:lpstr>
      <vt:lpstr>Regression-Based  Dimension Reduction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– Data Exploration  and Dimension Reduction</dc:title>
  <dc:subject>Data Mining for Business Intelligence</dc:subject>
  <dc:creator>Shmueli &amp; Bruce</dc:creator>
  <cp:lastModifiedBy>Peter</cp:lastModifiedBy>
  <cp:revision>279</cp:revision>
  <dcterms:created xsi:type="dcterms:W3CDTF">2008-10-22T16:40:20Z</dcterms:created>
  <dcterms:modified xsi:type="dcterms:W3CDTF">2018-02-08T15:45:00Z</dcterms:modified>
</cp:coreProperties>
</file>