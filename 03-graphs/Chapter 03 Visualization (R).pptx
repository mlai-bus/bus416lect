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62" r:id="rId2"/>
    <p:sldId id="257" r:id="rId3"/>
    <p:sldId id="263" r:id="rId4"/>
    <p:sldId id="264" r:id="rId5"/>
    <p:sldId id="265" r:id="rId6"/>
    <p:sldId id="266" r:id="rId7"/>
    <p:sldId id="258" r:id="rId8"/>
    <p:sldId id="259" r:id="rId9"/>
    <p:sldId id="260" r:id="rId10"/>
    <p:sldId id="267" r:id="rId11"/>
    <p:sldId id="268" r:id="rId12"/>
    <p:sldId id="269" r:id="rId13"/>
    <p:sldId id="270" r:id="rId14"/>
    <p:sldId id="291" r:id="rId15"/>
    <p:sldId id="292" r:id="rId16"/>
    <p:sldId id="293" r:id="rId17"/>
    <p:sldId id="271" r:id="rId18"/>
    <p:sldId id="278" r:id="rId19"/>
    <p:sldId id="272" r:id="rId20"/>
    <p:sldId id="280" r:id="rId21"/>
    <p:sldId id="281" r:id="rId22"/>
    <p:sldId id="282" r:id="rId23"/>
    <p:sldId id="284" r:id="rId24"/>
    <p:sldId id="286" r:id="rId25"/>
    <p:sldId id="287" r:id="rId26"/>
    <p:sldId id="290" r:id="rId27"/>
    <p:sldId id="294" r:id="rId28"/>
    <p:sldId id="295" r:id="rId29"/>
    <p:sldId id="289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-678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55C395A-4B2D-45C4-92D7-92FB995301C6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E0B84F1-C262-4F6B-8AB0-2017A1808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2F7C32-8838-4D5A-BC4C-ED992734B7D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EBCFC7B-D26A-482D-88B7-F464986F63E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BFB93D-9132-45CE-AF70-E22B6A221F8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6CFB160-1F68-4BCA-9E52-5AD6305AD8B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4F71339-85A7-4F27-AC58-651738CE209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0EA10-FBEF-403F-B92D-C10FF0549046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18D3EF9-DEBC-4B08-8144-12C20BAD90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93F88-443B-4500-A45E-2A5BEB8CD3CA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EE62C-7C76-46D7-A3F5-588208E515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3130D-DCCA-4852-8322-BDE59DDAD82F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BC3FF-E420-4771-9914-0769EB6A59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5F3D98-7DA3-46BB-BFB7-D0662DCCA29B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E9C3B-7B5E-4065-A137-439BF1664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3F6BA8-99F8-4BF6-8B7D-61685B86CEC3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3007B-958F-4859-8CD1-1DD1EFE30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04138-1C43-4FA4-BDF2-458D847BEDD8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FEC04-EE54-45AD-A910-AFA9D4B0C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4C064-924F-48A9-9526-7D3161F531A5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AF49D-B7EB-4D50-AAD8-A1FB59F50C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EB3B0-C190-41CE-98B3-7618D678DAB1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48C5E-897F-422D-B475-5D6EF4C970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3490A-497A-467F-94A6-D9FD9B606DD5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CEC48-E2F1-4ED0-8CA4-565087784C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B9FCB-4083-498C-B0D3-5F75F35C4034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61F13-D3C6-4CC2-9DD1-5C20A4C2DD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17BA33-AD06-4888-BB64-38BCB5CEBFA9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1711B-E4A3-4D02-9AF7-1137982784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E7ECDCB-5F0E-42FD-BC69-740BA303ECFE}" type="datetimeFigureOut">
              <a:rPr lang="en-US"/>
              <a:pPr>
                <a:defRPr/>
              </a:pPr>
              <a:t>11/11/2017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BAC08BC-00DF-41DC-AA05-6D9F01B599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6" r:id="rId2"/>
    <p:sldLayoutId id="2147483714" r:id="rId3"/>
    <p:sldLayoutId id="2147483707" r:id="rId4"/>
    <p:sldLayoutId id="2147483708" r:id="rId5"/>
    <p:sldLayoutId id="2147483709" r:id="rId6"/>
    <p:sldLayoutId id="2147483710" r:id="rId7"/>
    <p:sldLayoutId id="2147483715" r:id="rId8"/>
    <p:sldLayoutId id="2147483716" r:id="rId9"/>
    <p:sldLayoutId id="2147483711" r:id="rId10"/>
    <p:sldLayoutId id="214748371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title"/>
          </p:nvPr>
        </p:nvSpPr>
        <p:spPr>
          <a:xfrm>
            <a:off x="609600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Chapter 3 – Data Visualization</a:t>
            </a:r>
          </a:p>
        </p:txBody>
      </p:sp>
      <p:sp>
        <p:nvSpPr>
          <p:cNvPr id="614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© </a:t>
            </a:r>
            <a:r>
              <a:rPr lang="en-US" altLang="en-US" dirty="0" err="1" smtClean="0"/>
              <a:t>Galit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Shmueli</a:t>
            </a:r>
            <a:r>
              <a:rPr lang="en-US" altLang="en-US" dirty="0" smtClean="0"/>
              <a:t> and Peter Bruce </a:t>
            </a:r>
            <a:r>
              <a:rPr lang="en-US" altLang="en-US" dirty="0" smtClean="0"/>
              <a:t>2017</a:t>
            </a:r>
            <a:endParaRPr lang="en-US" altLang="en-US" dirty="0" smtClean="0"/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609600" y="4570413"/>
            <a:ext cx="7010400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smtClean="0">
                <a:solidFill>
                  <a:schemeClr val="accent2"/>
                </a:solidFill>
                <a:latin typeface="Franklin Gothic Book" pitchFamily="34" charset="0"/>
              </a:rPr>
              <a:t>Data Mining for Business Analytics in R</a:t>
            </a:r>
          </a:p>
          <a:p>
            <a:pPr>
              <a:spcBef>
                <a:spcPct val="50000"/>
              </a:spcBef>
            </a:pPr>
            <a:r>
              <a:rPr lang="en-US" altLang="en-US" sz="2800" b="1" dirty="0" err="1" smtClean="0">
                <a:solidFill>
                  <a:schemeClr val="tx2"/>
                </a:solidFill>
                <a:latin typeface="Franklin Gothic Book" pitchFamily="34" charset="0"/>
              </a:rPr>
              <a:t>Shmueli</a:t>
            </a:r>
            <a:r>
              <a:rPr lang="en-US" altLang="en-US" sz="2800" b="1" dirty="0" smtClean="0">
                <a:solidFill>
                  <a:schemeClr val="tx2"/>
                </a:solidFill>
                <a:latin typeface="Franklin Gothic Book" pitchFamily="34" charset="0"/>
              </a:rPr>
              <a:t>, Bruce, </a:t>
            </a:r>
            <a:r>
              <a:rPr lang="en-US" altLang="en-US" sz="2800" b="1" dirty="0" err="1" smtClean="0">
                <a:solidFill>
                  <a:schemeClr val="tx2"/>
                </a:solidFill>
                <a:latin typeface="Franklin Gothic Book" pitchFamily="34" charset="0"/>
              </a:rPr>
              <a:t>Yahav</a:t>
            </a:r>
            <a:r>
              <a:rPr lang="en-US" altLang="en-US" sz="2800" b="1" dirty="0" smtClean="0">
                <a:solidFill>
                  <a:schemeClr val="tx2"/>
                </a:solidFill>
                <a:latin typeface="Franklin Gothic Book" pitchFamily="34" charset="0"/>
              </a:rPr>
              <a:t>, Patel &amp; </a:t>
            </a:r>
            <a:r>
              <a:rPr lang="en-US" altLang="en-US" sz="2800" b="1" dirty="0" err="1" smtClean="0">
                <a:solidFill>
                  <a:schemeClr val="tx2"/>
                </a:solidFill>
                <a:latin typeface="Franklin Gothic Book" pitchFamily="34" charset="0"/>
              </a:rPr>
              <a:t>Lichtendahl</a:t>
            </a:r>
            <a:endParaRPr lang="en-US" altLang="en-US" sz="2800" b="1" dirty="0">
              <a:solidFill>
                <a:schemeClr val="tx2"/>
              </a:solidFill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 smtClean="0"/>
              <a:t>Graphs for Data Exploration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2209800"/>
            <a:ext cx="2971800" cy="2286000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en-US" smtClean="0">
                <a:latin typeface="+mj-lt"/>
              </a:rPr>
              <a:t>Basic Plots</a:t>
            </a:r>
          </a:p>
          <a:p>
            <a:pPr lvl="1" eaLnBrk="1" hangingPunct="1">
              <a:buFont typeface="Arial" pitchFamily="34" charset="0"/>
              <a:buNone/>
              <a:defRPr/>
            </a:pPr>
            <a:r>
              <a:rPr lang="en-US" smtClean="0">
                <a:latin typeface="+mj-lt"/>
              </a:rPr>
              <a:t>Line Graphs</a:t>
            </a:r>
          </a:p>
          <a:p>
            <a:pPr lvl="1" eaLnBrk="1" hangingPunct="1">
              <a:buFont typeface="Arial" pitchFamily="34" charset="0"/>
              <a:buNone/>
              <a:defRPr/>
            </a:pPr>
            <a:r>
              <a:rPr lang="en-US" smtClean="0">
                <a:latin typeface="+mj-lt"/>
              </a:rPr>
              <a:t>Bar Charts</a:t>
            </a:r>
          </a:p>
          <a:p>
            <a:pPr lvl="1" eaLnBrk="1" hangingPunct="1">
              <a:buFont typeface="Arial" pitchFamily="34" charset="0"/>
              <a:buNone/>
              <a:defRPr/>
            </a:pPr>
            <a:r>
              <a:rPr lang="en-US" smtClean="0">
                <a:latin typeface="+mj-lt"/>
              </a:rPr>
              <a:t>Scatterplots</a:t>
            </a:r>
          </a:p>
          <a:p>
            <a:pPr eaLnBrk="1" hangingPunct="1">
              <a:buFont typeface="Arial" pitchFamily="34" charset="0"/>
              <a:buNone/>
              <a:defRPr/>
            </a:pPr>
            <a:endParaRPr lang="en-US" smtClean="0">
              <a:latin typeface="+mj-lt"/>
            </a:endParaRPr>
          </a:p>
        </p:txBody>
      </p:sp>
      <p:sp>
        <p:nvSpPr>
          <p:cNvPr id="7172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2209800"/>
            <a:ext cx="4038600" cy="2438400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en-US" smtClean="0">
                <a:latin typeface="+mj-lt"/>
              </a:rPr>
              <a:t>Distribution Plots</a:t>
            </a:r>
          </a:p>
          <a:p>
            <a:pPr lvl="1" eaLnBrk="1" hangingPunct="1">
              <a:buFont typeface="Arial" pitchFamily="34" charset="0"/>
              <a:buNone/>
              <a:defRPr/>
            </a:pPr>
            <a:r>
              <a:rPr lang="en-US" smtClean="0">
                <a:latin typeface="+mj-lt"/>
              </a:rPr>
              <a:t>Boxplots</a:t>
            </a:r>
          </a:p>
          <a:p>
            <a:pPr lvl="1" eaLnBrk="1" hangingPunct="1">
              <a:buFont typeface="Arial" pitchFamily="34" charset="0"/>
              <a:buNone/>
              <a:defRPr/>
            </a:pPr>
            <a:r>
              <a:rPr lang="en-US" smtClean="0">
                <a:latin typeface="+mj-lt"/>
              </a:rPr>
              <a:t>Histograms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 smtClean="0"/>
              <a:t>Line Graph for Time </a:t>
            </a:r>
            <a:r>
              <a:rPr lang="en-US" altLang="en-US" dirty="0" smtClean="0"/>
              <a:t>Series</a:t>
            </a:r>
            <a:br>
              <a:rPr lang="en-US" altLang="en-US" dirty="0" smtClean="0"/>
            </a:br>
            <a:r>
              <a:rPr lang="en-US" altLang="en-US" sz="2400" dirty="0" smtClean="0"/>
              <a:t>Amtrak Ridership</a:t>
            </a:r>
            <a:endParaRPr lang="en-US" altLang="en-US" sz="2400" dirty="0" smtClean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524000"/>
            <a:ext cx="406717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5334000"/>
            <a:ext cx="8534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use time series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analysis</a:t>
            </a:r>
          </a:p>
          <a:p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library(forecast)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Amtrak.df$Ridership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start = c(1991, 1), end = c(2004, 3), freq = 12)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"Year",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"Ridership (in 000s)",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ylim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c(1300, 2300))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762000" y="68580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/>
              <a:t>Bar Chart for Categorical </a:t>
            </a:r>
            <a:r>
              <a:rPr lang="en-US" altLang="en-US" dirty="0" smtClean="0"/>
              <a:t>Variable</a:t>
            </a:r>
            <a:br>
              <a:rPr lang="en-US" altLang="en-US" dirty="0" smtClean="0"/>
            </a:br>
            <a:r>
              <a:rPr lang="en-US" altLang="en-US" sz="2000" dirty="0" smtClean="0"/>
              <a:t>Average median </a:t>
            </a:r>
            <a:r>
              <a:rPr lang="en-US" altLang="en-US" sz="2000" dirty="0" smtClean="0"/>
              <a:t>n</a:t>
            </a:r>
            <a:r>
              <a:rPr lang="en-US" altLang="en-US" sz="2000" dirty="0" smtClean="0"/>
              <a:t>eighborhood </a:t>
            </a:r>
            <a:r>
              <a:rPr lang="en-US" altLang="en-US" sz="2000" dirty="0" smtClean="0"/>
              <a:t>v</a:t>
            </a:r>
            <a:r>
              <a:rPr lang="en-US" altLang="en-US" sz="2000" dirty="0" smtClean="0"/>
              <a:t>alue for neighborhoods that do and do not </a:t>
            </a:r>
            <a:r>
              <a:rPr lang="en-US" altLang="en-US" sz="2000" dirty="0" smtClean="0"/>
              <a:t>b</a:t>
            </a:r>
            <a:r>
              <a:rPr lang="en-US" altLang="en-US" sz="2000" dirty="0" smtClean="0"/>
              <a:t>order the Charles River</a:t>
            </a:r>
            <a:endParaRPr lang="en-US" altLang="en-US" sz="2000" dirty="0" smtClean="0"/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905000"/>
            <a:ext cx="390525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85800" y="5105400"/>
            <a:ext cx="8077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##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barchart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of CHAS vs. mean MEDV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compute mean MEDV per CHAS = (0, 1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data.for.plot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aggregate(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housing.df$MEDV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by = list(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housing.df$CHAS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), FUN = mean)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names(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data.for.plot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 &lt;- c("CHAS", 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MeanMEDV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barplot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data.for.plot$MeanMEDV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names.arg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data.for.plot$CHAS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"CHAS",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"Avg. MEDV")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914400" y="76200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en-US" dirty="0" err="1" smtClean="0"/>
              <a:t>Scatterplot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sz="2000" dirty="0" smtClean="0">
                <a:latin typeface="+mj-lt"/>
              </a:rPr>
              <a:t>Displays relationship between two numerical variables</a:t>
            </a:r>
            <a:r>
              <a:rPr lang="en-US" altLang="en-US" dirty="0" smtClean="0"/>
              <a:t>	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057400"/>
            <a:ext cx="39528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419600" y="480060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MEDV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54102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## scatter plot with axes names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housing.df$MEDV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~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housing.df$LSTAT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"MDEV",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"LSTAT")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Distribution Plots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57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latin typeface="+mj-lt"/>
              </a:rPr>
              <a:t>Display “how many” of each value occur in a data set</a:t>
            </a:r>
          </a:p>
          <a:p>
            <a:pPr eaLnBrk="1" hangingPunct="1">
              <a:buFont typeface="Arial" pitchFamily="34" charset="0"/>
              <a:buNone/>
              <a:defRPr/>
            </a:pPr>
            <a:endParaRPr lang="en-US" dirty="0" smtClean="0">
              <a:latin typeface="+mj-lt"/>
            </a:endParaRPr>
          </a:p>
          <a:p>
            <a:pPr eaLnBrk="1" hangingPunct="1">
              <a:defRPr/>
            </a:pPr>
            <a:r>
              <a:rPr lang="en-US" dirty="0" smtClean="0">
                <a:latin typeface="+mj-lt"/>
              </a:rPr>
              <a:t>Or, for continuous data or data with many possible values, “how many” values are in each of a series of ranges or “bins”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Histograms</a:t>
            </a:r>
          </a:p>
        </p:txBody>
      </p:sp>
      <p:sp>
        <p:nvSpPr>
          <p:cNvPr id="8195" name="Content Placeholder 3"/>
          <p:cNvSpPr>
            <a:spLocks noGrp="1"/>
          </p:cNvSpPr>
          <p:nvPr>
            <p:ph sz="quarter" idx="1"/>
          </p:nvPr>
        </p:nvSpPr>
        <p:spPr>
          <a:xfrm>
            <a:off x="398463" y="2897188"/>
            <a:ext cx="3490912" cy="2128837"/>
          </a:xfrm>
        </p:spPr>
        <p:txBody>
          <a:bodyPr>
            <a:normAutofit lnSpcReduction="10000"/>
          </a:bodyPr>
          <a:lstStyle/>
          <a:p>
            <a:pPr marL="0" indent="0" eaLnBrk="1" fontAlgn="auto" hangingPunct="1">
              <a:spcBef>
                <a:spcPts val="580"/>
              </a:spcBef>
              <a:spcAft>
                <a:spcPts val="0"/>
              </a:spcAft>
              <a:buFont typeface="Wingdings 2" pitchFamily="18" charset="2"/>
              <a:buNone/>
              <a:defRPr/>
            </a:pPr>
            <a:endParaRPr lang="en-US" dirty="0" smtClean="0">
              <a:latin typeface="+mj-lt"/>
            </a:endParaRPr>
          </a:p>
          <a:p>
            <a:pPr marL="0" indent="0" eaLnBrk="1" fontAlgn="auto" hangingPunct="1">
              <a:spcBef>
                <a:spcPts val="580"/>
              </a:spcBef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dirty="0" smtClean="0">
                <a:latin typeface="+mj-lt"/>
              </a:rPr>
              <a:t>Histogram shows the distribution of the outcome variable (median house value)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22263" y="1911350"/>
            <a:ext cx="39465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None/>
              <a:defRPr/>
            </a:pPr>
            <a:r>
              <a:rPr lang="en-US" sz="2600" dirty="0">
                <a:latin typeface="+mj-lt"/>
              </a:rPr>
              <a:t>Boston Housing example:</a:t>
            </a:r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914400"/>
            <a:ext cx="4019550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5257800" y="2971800"/>
            <a:ext cx="7620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181600" y="3581400"/>
            <a:ext cx="228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0" y="4419600"/>
            <a:ext cx="335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About 40 neighborhoods had a median house value &lt; $10,000 (these data are from mid-20</a:t>
            </a:r>
            <a:r>
              <a:rPr lang="en-US" sz="1400" baseline="30000" dirty="0" smtClean="0"/>
              <a:t>th</a:t>
            </a:r>
            <a:r>
              <a:rPr lang="en-US" sz="1400" dirty="0" smtClean="0"/>
              <a:t> century)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1219200" y="5562600"/>
            <a:ext cx="5867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## histogram of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MEDV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hist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housing.df$MEDV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"MEDV")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91400" cy="1143000"/>
          </a:xfrm>
        </p:spPr>
        <p:txBody>
          <a:bodyPr/>
          <a:lstStyle/>
          <a:p>
            <a:pPr algn="ctr" eaLnBrk="1" hangingPunct="1"/>
            <a:r>
              <a:rPr lang="en-US" altLang="en-US" dirty="0" err="1" smtClean="0"/>
              <a:t>Boxplots</a:t>
            </a:r>
            <a:endParaRPr lang="en-US" altLang="en-US" dirty="0" smtClean="0"/>
          </a:p>
        </p:txBody>
      </p:sp>
      <p:sp>
        <p:nvSpPr>
          <p:cNvPr id="2" name="Content Placeholder 3"/>
          <p:cNvSpPr>
            <a:spLocks noGrp="1"/>
          </p:cNvSpPr>
          <p:nvPr>
            <p:ph sz="quarter" idx="1"/>
          </p:nvPr>
        </p:nvSpPr>
        <p:spPr>
          <a:xfrm>
            <a:off x="4953000" y="2209800"/>
            <a:ext cx="3975100" cy="3198812"/>
          </a:xfrm>
        </p:spPr>
        <p:txBody>
          <a:bodyPr>
            <a:normAutofit/>
          </a:bodyPr>
          <a:lstStyle/>
          <a:p>
            <a:pPr marL="0" indent="0" eaLnBrk="1" fontAlgn="auto" hangingPunct="1">
              <a:spcBef>
                <a:spcPts val="580"/>
              </a:spcBef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dirty="0" smtClean="0">
                <a:latin typeface="+mj-lt"/>
              </a:rPr>
              <a:t>Houses in neighborhoods </a:t>
            </a:r>
            <a:r>
              <a:rPr lang="en-US" dirty="0" smtClean="0">
                <a:latin typeface="+mj-lt"/>
              </a:rPr>
              <a:t>on Charles river (1) </a:t>
            </a:r>
            <a:r>
              <a:rPr lang="en-US" dirty="0" smtClean="0">
                <a:latin typeface="+mj-lt"/>
              </a:rPr>
              <a:t>are more valuable than those </a:t>
            </a:r>
            <a:r>
              <a:rPr lang="en-US" dirty="0" smtClean="0">
                <a:latin typeface="+mj-lt"/>
              </a:rPr>
              <a:t>not </a:t>
            </a:r>
            <a:r>
              <a:rPr lang="en-US" dirty="0" smtClean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(0)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533400" y="1524000"/>
            <a:ext cx="81407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575"/>
              </a:spcBef>
              <a:buClr>
                <a:schemeClr val="accent1"/>
              </a:buClr>
              <a:buSzPct val="85000"/>
              <a:buFont typeface="Wingdings 2" pitchFamily="18" charset="2"/>
              <a:buNone/>
              <a:defRPr/>
            </a:pPr>
            <a:r>
              <a:rPr lang="en-US" sz="2600" dirty="0">
                <a:latin typeface="+mj-lt"/>
              </a:rPr>
              <a:t>Side-by-side </a:t>
            </a:r>
            <a:r>
              <a:rPr lang="en-US" sz="2600" dirty="0" err="1">
                <a:latin typeface="+mj-lt"/>
              </a:rPr>
              <a:t>boxplots</a:t>
            </a:r>
            <a:r>
              <a:rPr lang="en-US" sz="2600" dirty="0">
                <a:latin typeface="+mj-lt"/>
              </a:rPr>
              <a:t> are useful for comparing subgroups</a:t>
            </a:r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057400"/>
            <a:ext cx="4210050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09600" y="5638800"/>
            <a:ext cx="8001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##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boxplot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of MEDV for different values of CHAS</a:t>
            </a:r>
          </a:p>
          <a:p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boxplot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housing.df$MEDV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~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housing.df$CHAS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"CHAS",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"MEDV")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438400"/>
            <a:ext cx="2409825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Box Plot</a:t>
            </a:r>
          </a:p>
        </p:txBody>
      </p:sp>
      <p:sp>
        <p:nvSpPr>
          <p:cNvPr id="2" name="Content Placeholder 3"/>
          <p:cNvSpPr>
            <a:spLocks noGrp="1"/>
          </p:cNvSpPr>
          <p:nvPr>
            <p:ph sz="quarter" idx="1"/>
          </p:nvPr>
        </p:nvSpPr>
        <p:spPr>
          <a:xfrm>
            <a:off x="4933950" y="1447800"/>
            <a:ext cx="3749675" cy="45720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+mj-lt"/>
              </a:rPr>
              <a:t>Top outliers defined as those above Q3+1.5(Q3-Q1).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+mj-lt"/>
              </a:rPr>
              <a:t>“max” = maximum of non-outliers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+mj-lt"/>
              </a:rPr>
              <a:t>Analogous definitions for bottom outliers and for “min”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+mj-lt"/>
              </a:rPr>
              <a:t>Details may differ across software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dirty="0" smtClean="0">
              <a:latin typeface="+mj-lt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dirty="0" smtClean="0">
              <a:latin typeface="+mj-lt"/>
            </a:endParaRPr>
          </a:p>
        </p:txBody>
      </p:sp>
      <p:sp>
        <p:nvSpPr>
          <p:cNvPr id="14341" name="TextBox 19"/>
          <p:cNvSpPr txBox="1">
            <a:spLocks noChangeArrowheads="1"/>
          </p:cNvSpPr>
          <p:nvPr/>
        </p:nvSpPr>
        <p:spPr bwMode="auto">
          <a:xfrm>
            <a:off x="3733800" y="4419600"/>
            <a:ext cx="685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>
                <a:latin typeface="+mj-lt"/>
                <a:cs typeface="Arial" pitchFamily="34" charset="0"/>
              </a:rPr>
              <a:t>Median</a:t>
            </a:r>
          </a:p>
        </p:txBody>
      </p:sp>
      <p:sp>
        <p:nvSpPr>
          <p:cNvPr id="14342" name="TextBox 20"/>
          <p:cNvSpPr txBox="1">
            <a:spLocks noChangeArrowheads="1"/>
          </p:cNvSpPr>
          <p:nvPr/>
        </p:nvSpPr>
        <p:spPr bwMode="auto">
          <a:xfrm>
            <a:off x="3733800" y="4876800"/>
            <a:ext cx="9144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>
                <a:latin typeface="+mj-lt"/>
                <a:cs typeface="Arial" pitchFamily="34" charset="0"/>
              </a:rPr>
              <a:t>Quartile 1</a:t>
            </a:r>
          </a:p>
        </p:txBody>
      </p:sp>
      <p:cxnSp>
        <p:nvCxnSpPr>
          <p:cNvPr id="23" name="Straight Connector 22"/>
          <p:cNvCxnSpPr>
            <a:endCxn id="14341" idx="1"/>
          </p:cNvCxnSpPr>
          <p:nvPr/>
        </p:nvCxnSpPr>
        <p:spPr>
          <a:xfrm flipV="1">
            <a:off x="3429000" y="4557713"/>
            <a:ext cx="304800" cy="14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14342" idx="1"/>
          </p:cNvCxnSpPr>
          <p:nvPr/>
        </p:nvCxnSpPr>
        <p:spPr>
          <a:xfrm>
            <a:off x="3429000" y="4800600"/>
            <a:ext cx="304800" cy="214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5" name="TextBox 25"/>
          <p:cNvSpPr txBox="1">
            <a:spLocks noChangeArrowheads="1"/>
          </p:cNvSpPr>
          <p:nvPr/>
        </p:nvSpPr>
        <p:spPr bwMode="auto">
          <a:xfrm>
            <a:off x="3505200" y="3609975"/>
            <a:ext cx="609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>
                <a:latin typeface="+mj-lt"/>
                <a:cs typeface="Arial" pitchFamily="34" charset="0"/>
              </a:rPr>
              <a:t>“max”</a:t>
            </a:r>
          </a:p>
        </p:txBody>
      </p:sp>
      <p:sp>
        <p:nvSpPr>
          <p:cNvPr id="14346" name="TextBox 26"/>
          <p:cNvSpPr txBox="1">
            <a:spLocks noChangeArrowheads="1"/>
          </p:cNvSpPr>
          <p:nvPr/>
        </p:nvSpPr>
        <p:spPr bwMode="auto">
          <a:xfrm>
            <a:off x="3505200" y="5257800"/>
            <a:ext cx="762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>
                <a:latin typeface="+mj-lt"/>
                <a:cs typeface="Arial" pitchFamily="34" charset="0"/>
              </a:rPr>
              <a:t>“min”</a:t>
            </a:r>
          </a:p>
        </p:txBody>
      </p:sp>
      <p:sp>
        <p:nvSpPr>
          <p:cNvPr id="14347" name="TextBox 28"/>
          <p:cNvSpPr txBox="1">
            <a:spLocks noChangeArrowheads="1"/>
          </p:cNvSpPr>
          <p:nvPr/>
        </p:nvSpPr>
        <p:spPr bwMode="auto">
          <a:xfrm>
            <a:off x="3733800" y="2971800"/>
            <a:ext cx="67786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>
                <a:latin typeface="+mj-lt"/>
                <a:cs typeface="Arial" pitchFamily="34" charset="0"/>
              </a:rPr>
              <a:t>outliers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3276600" y="31242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1" name="TextBox 46"/>
          <p:cNvSpPr txBox="1">
            <a:spLocks noChangeArrowheads="1"/>
          </p:cNvSpPr>
          <p:nvPr/>
        </p:nvSpPr>
        <p:spPr bwMode="auto">
          <a:xfrm>
            <a:off x="3722688" y="4114800"/>
            <a:ext cx="8493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>
                <a:latin typeface="+mj-lt"/>
                <a:cs typeface="Arial" pitchFamily="34" charset="0"/>
              </a:rPr>
              <a:t>Quartile 3</a:t>
            </a:r>
          </a:p>
        </p:txBody>
      </p:sp>
      <p:cxnSp>
        <p:nvCxnSpPr>
          <p:cNvPr id="49" name="Straight Connector 48"/>
          <p:cNvCxnSpPr>
            <a:endCxn id="14351" idx="1"/>
          </p:cNvCxnSpPr>
          <p:nvPr/>
        </p:nvCxnSpPr>
        <p:spPr>
          <a:xfrm flipV="1">
            <a:off x="3352800" y="4252913"/>
            <a:ext cx="369888" cy="90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Heat Maps	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286000"/>
            <a:ext cx="7772400" cy="3733800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en-US" dirty="0" smtClean="0">
                <a:latin typeface="+mj-lt"/>
              </a:rPr>
              <a:t>Color conveys information</a:t>
            </a:r>
          </a:p>
          <a:p>
            <a:pPr eaLnBrk="1" hangingPunct="1">
              <a:buFont typeface="Arial" pitchFamily="34" charset="0"/>
              <a:buNone/>
              <a:defRPr/>
            </a:pPr>
            <a:endParaRPr lang="en-US" dirty="0" smtClean="0">
              <a:latin typeface="+mj-lt"/>
            </a:endParaRPr>
          </a:p>
          <a:p>
            <a:pPr eaLnBrk="1" hangingPunct="1">
              <a:buFont typeface="Arial" pitchFamily="34" charset="0"/>
              <a:buNone/>
              <a:defRPr/>
            </a:pPr>
            <a:r>
              <a:rPr lang="en-US" dirty="0" smtClean="0">
                <a:latin typeface="+mj-lt"/>
              </a:rPr>
              <a:t>In data mining, used to visualize</a:t>
            </a:r>
          </a:p>
          <a:p>
            <a:pPr lvl="1" eaLnBrk="1" hangingPunct="1">
              <a:buFont typeface="Arial" pitchFamily="34" charset="0"/>
              <a:buNone/>
              <a:defRPr/>
            </a:pPr>
            <a:r>
              <a:rPr lang="en-US" dirty="0" smtClean="0">
                <a:latin typeface="+mj-lt"/>
              </a:rPr>
              <a:t>Correlations</a:t>
            </a:r>
          </a:p>
          <a:p>
            <a:pPr lvl="1" eaLnBrk="1" hangingPunct="1">
              <a:buFont typeface="Arial" pitchFamily="34" charset="0"/>
              <a:buNone/>
              <a:defRPr/>
            </a:pPr>
            <a:r>
              <a:rPr lang="en-US" dirty="0" smtClean="0">
                <a:latin typeface="+mj-lt"/>
              </a:rPr>
              <a:t>Missing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15962"/>
          </a:xfrm>
        </p:spPr>
        <p:txBody>
          <a:bodyPr/>
          <a:lstStyle/>
          <a:p>
            <a:pPr algn="ctr" eaLnBrk="1" hangingPunct="1"/>
            <a:r>
              <a:rPr lang="en-US" altLang="en-US" sz="3600" dirty="0" err="1" smtClean="0"/>
              <a:t>Heatmap</a:t>
            </a:r>
            <a:r>
              <a:rPr lang="en-US" altLang="en-US" sz="3600" dirty="0" smtClean="0"/>
              <a:t> to highlight </a:t>
            </a:r>
            <a:r>
              <a:rPr lang="en-US" altLang="en-US" sz="3600" dirty="0" smtClean="0"/>
              <a:t>correlations</a:t>
            </a:r>
            <a:br>
              <a:rPr lang="en-US" altLang="en-US" sz="3600" dirty="0" smtClean="0"/>
            </a:br>
            <a:r>
              <a:rPr lang="en-US" sz="2000" dirty="0" smtClean="0"/>
              <a:t>Darker &amp; redder = stronger positive or negative correlation</a:t>
            </a:r>
            <a:endParaRPr lang="en-US" altLang="en-US" sz="3600" dirty="0" smtClean="0"/>
          </a:p>
        </p:txBody>
      </p:sp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219200"/>
            <a:ext cx="671512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838200" y="4724400"/>
            <a:ext cx="8077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## simple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heatmap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of correlations (without values)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heatmap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Rowv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NA,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Colv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NA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##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heatmap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with values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library(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gplots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heatmap.2(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Rowv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FALSE,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Colv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FALSE,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dendrogram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"none",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cellnote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round(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),2),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notecol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"black", key = FALSE, trace = 'none', margins = c(10,10))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3"/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Multidimensional Visualization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200" dirty="0" err="1" smtClean="0"/>
              <a:t>Scatterplot</a:t>
            </a:r>
            <a:r>
              <a:rPr lang="en-US" altLang="en-US" sz="3200" dirty="0" smtClean="0"/>
              <a:t> with </a:t>
            </a:r>
            <a:r>
              <a:rPr lang="en-US" altLang="en-US" sz="3200" dirty="0" smtClean="0"/>
              <a:t>color/shade </a:t>
            </a:r>
            <a:r>
              <a:rPr lang="en-US" altLang="en-US" sz="3200" dirty="0" smtClean="0"/>
              <a:t>added</a:t>
            </a: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>
          <a:xfrm>
            <a:off x="685800" y="1752601"/>
            <a:ext cx="3429000" cy="30480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dirty="0" smtClean="0">
                <a:latin typeface="+mj-lt"/>
              </a:rPr>
              <a:t>Boston Housing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dirty="0" smtClean="0">
              <a:latin typeface="+mj-lt"/>
            </a:endParaRP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dirty="0" smtClean="0">
                <a:latin typeface="+mj-lt"/>
              </a:rPr>
              <a:t>NOX vs. LSTAT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light shade </a:t>
            </a:r>
            <a:r>
              <a:rPr lang="en-US" sz="2400" dirty="0" smtClean="0">
                <a:latin typeface="+mj-lt"/>
              </a:rPr>
              <a:t>= low median value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b="1" dirty="0" smtClean="0">
                <a:latin typeface="+mj-lt"/>
              </a:rPr>
              <a:t>dark shade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= high median value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981200"/>
            <a:ext cx="321945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5334000"/>
            <a:ext cx="838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 alternative plot with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ggplot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[text has more complex Base R coding too]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library(ggplot2)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ggplot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aes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(y = NOX, x = LSTAT,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colour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 CAT..MEDV)) +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(alpha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 0.6)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371600"/>
            <a:ext cx="344805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38200" y="4572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Bar chart for MEDV vs. RAD, first for low-value neighborhoods, then for high value neighborhoods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4876800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data.for.plot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aggregate(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housing.df$MEDV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by = list(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housing.df$RAD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housing.df$CHAS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),FUN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 mean, drop = FALSE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ggplot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data.for.plot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 +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geom_bar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aes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(x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as.factor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(RAD), y = `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meanMEDV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`), stat = "identity") +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("RAD") +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facet_grid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(CHAS ~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.)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smtClean="0">
                <a:latin typeface="+mj-lt"/>
                <a:cs typeface="Courier New" pitchFamily="49" charset="0"/>
              </a:rPr>
              <a:t>see Fig. 3.6 for more</a:t>
            </a:r>
            <a:endParaRPr lang="en-US" sz="1400" dirty="0">
              <a:latin typeface="+mj-lt"/>
              <a:cs typeface="Courier New" pitchFamily="49" charset="0"/>
            </a:endParaRP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600200"/>
            <a:ext cx="65913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810000" y="457200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+mj-lt"/>
              </a:rPr>
              <a:t>Matrix </a:t>
            </a:r>
            <a:r>
              <a:rPr lang="en-US" sz="3200" dirty="0" err="1" smtClean="0">
                <a:latin typeface="+mj-lt"/>
              </a:rPr>
              <a:t>Scatterplot</a:t>
            </a:r>
            <a:endParaRPr lang="en-US" sz="32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4724400"/>
            <a:ext cx="8077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## simple plot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use plot() to generate a matrix of 4X4 panels with variable name on the diagonal,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and scatter plots in the remaining panels.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[, c(1, 3, 12, 13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)])</a:t>
            </a:r>
          </a:p>
          <a:p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alternative, nicer plot (displayed)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library(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GGally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ggpairs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[, c(1, 3, 12, 13)])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905000" y="1295400"/>
            <a:ext cx="838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000" y="838200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Diagonal plot is the frequency distribution for the variable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76400" y="2362200"/>
            <a:ext cx="510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j-lt"/>
              </a:rPr>
              <a:t>Manipulation:</a:t>
            </a:r>
          </a:p>
          <a:p>
            <a:endParaRPr lang="en-US" sz="2400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 Rescaling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 Aggregation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 Zooming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 Filtering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 smtClean="0"/>
              <a:t>Rescaling to log scale (on right)</a:t>
            </a:r>
            <a:br>
              <a:rPr lang="en-US" altLang="en-US" dirty="0" smtClean="0"/>
            </a:br>
            <a:r>
              <a:rPr lang="en-US" altLang="en-US" sz="3200" dirty="0" smtClean="0"/>
              <a:t>“</a:t>
            </a:r>
            <a:r>
              <a:rPr lang="en-US" altLang="en-US" sz="3200" dirty="0" err="1" smtClean="0"/>
              <a:t>uncrowds</a:t>
            </a:r>
            <a:r>
              <a:rPr lang="en-US" altLang="en-US" sz="3200" dirty="0" smtClean="0"/>
              <a:t>” the data</a:t>
            </a:r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00200"/>
            <a:ext cx="739140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04800" y="4876800"/>
            <a:ext cx="8077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## scatter plot: regular and log scale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housing.df$MEDV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~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housing.df$CRIM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"CRIM",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"MEDV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")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 to use logarithmic scale set argument log = to either 'x', 'y', or '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xy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'.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housing.df$MEDV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~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housing.df$CRIM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"CRIM",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"MEDV", log = '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xy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254000"/>
          </a:xfrm>
        </p:spPr>
        <p:txBody>
          <a:bodyPr/>
          <a:lstStyle/>
          <a:p>
            <a:pPr eaLnBrk="1" hangingPunct="1"/>
            <a:r>
              <a:rPr lang="en-US" altLang="en-US" sz="2400" b="1" dirty="0" smtClean="0"/>
              <a:t>Amtrak Ridership – Monthly </a:t>
            </a:r>
            <a:r>
              <a:rPr lang="en-US" altLang="en-US" sz="2400" b="1" dirty="0" smtClean="0"/>
              <a:t>Data – Curve Added</a:t>
            </a:r>
            <a:endParaRPr lang="en-US" altLang="en-US" sz="2400" b="1" dirty="0" smtClean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143000"/>
            <a:ext cx="501015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4953000"/>
            <a:ext cx="80772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## fit curve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ridership.lm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tslm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ridership.ts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~ trend + I(trend^2))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ridership.ts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"Year",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"Ridership (in 000s)",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ylim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c(1300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2300))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lines(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ridership.lm$fitted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lwd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00200"/>
            <a:ext cx="404161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5800" y="381000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Amtrak Ridership</a:t>
            </a:r>
            <a:endParaRPr lang="en-US" sz="3200" dirty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600200"/>
            <a:ext cx="393501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752600" y="12192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Monthly Average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57800" y="12192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Zoom in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28600" y="4343400"/>
            <a:ext cx="8610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## zoom in, monthly, and annual plots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ridership.2yrs &lt;- window(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start = c(1991,1), end = c(1992,12))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plot(ridership.2yrs,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"Year",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"Ridership (in 000s)",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ylim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c(1300, 2300))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monthly.ridership.ts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tapply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cycle(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), mean)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monthly.ridership.ts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"Month",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"Average Ridership",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ylim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c(1300, 2300), type = "l",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xaxt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'n')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## set x labels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axis(1, at = c(1:12), labels = c("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Jan","Feb","Mar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", 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Apr","May","Jun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Jul","Aug","Sep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", 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Oct","Nov","Dec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"))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annual.ridership.ts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aggregate(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FUN = mean)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annual.ridership.ts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"Year",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"Average Ridership",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ylim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c(1300, 2300))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355600"/>
            <a:ext cx="8229600" cy="254000"/>
          </a:xfrm>
        </p:spPr>
        <p:txBody>
          <a:bodyPr/>
          <a:lstStyle/>
          <a:p>
            <a:pPr algn="ctr" eaLnBrk="1" hangingPunct="1"/>
            <a:r>
              <a:rPr lang="en-US" altLang="en-US" sz="2800" b="1" dirty="0" smtClean="0"/>
              <a:t>Scatter Plot with Labels (Utilities)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762000"/>
            <a:ext cx="54483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1000" y="5638800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plot(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utilities.df$Fuel_Cost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~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utilities.df$Sales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"Sales",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"Fuel Cost",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xlim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c(2000, 20000))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text(x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utilities.df$Sales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y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utilities.df$Fuel_Cost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labels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utilities.df$Company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pos = 4,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cex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0.8,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srt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20, offset = 0.2)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7239000" cy="609600"/>
          </a:xfrm>
        </p:spPr>
        <p:txBody>
          <a:bodyPr/>
          <a:lstStyle/>
          <a:p>
            <a:pPr algn="ctr" eaLnBrk="1" hangingPunct="1"/>
            <a:r>
              <a:rPr lang="en-US" altLang="en-US" sz="2400" b="1" dirty="0" smtClean="0"/>
              <a:t>Scaling:  Smaller markers, jittering, color contrast (Universal Bank; </a:t>
            </a:r>
            <a:r>
              <a:rPr lang="en-US" altLang="en-US" sz="2400" b="1" dirty="0" smtClean="0">
                <a:solidFill>
                  <a:srgbClr val="C00000"/>
                </a:solidFill>
              </a:rPr>
              <a:t>red</a:t>
            </a:r>
            <a:r>
              <a:rPr lang="en-US" altLang="en-US" sz="2400" b="1" dirty="0" smtClean="0"/>
              <a:t> = accept loan)</a:t>
            </a:r>
          </a:p>
        </p:txBody>
      </p:sp>
      <p:pic>
        <p:nvPicPr>
          <p:cNvPr id="26627" name="Picture 2" descr="tmpD281.tmp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914400"/>
            <a:ext cx="655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28600" y="525780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use function alpha() in library scales to add transparent colors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library(scales)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plot(jitter(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universal.df$CCAvg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1) ~ jitter(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universal.df$Income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1),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col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alpha(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ifelse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universal.df$Securities.Account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== 0,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“gray", “red"),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0.4),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pch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20, log = '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',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ylim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c(0.1, 10),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xlab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"Income",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ylab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CCAvg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0" y="1676400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Jitter = add noise to “</a:t>
            </a:r>
            <a:r>
              <a:rPr lang="en-US" sz="1200" dirty="0" err="1" smtClean="0"/>
              <a:t>unstack</a:t>
            </a:r>
            <a:r>
              <a:rPr lang="en-US" sz="1200" dirty="0" smtClean="0"/>
              <a:t>” markers that hide markers underneath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2" descr="tmpD7A0.tmp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09800"/>
            <a:ext cx="3429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tmpD281.tmp"/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2209800"/>
            <a:ext cx="3657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66800" y="1371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Without jittering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34000" y="12954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jittering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792163"/>
          </a:xfrm>
        </p:spPr>
        <p:txBody>
          <a:bodyPr/>
          <a:lstStyle/>
          <a:p>
            <a:pPr algn="ctr" eaLnBrk="1" hangingPunct="1"/>
            <a:r>
              <a:rPr lang="en-US" altLang="en-US" sz="2800" b="1" dirty="0" smtClean="0"/>
              <a:t>Parallel Coordinate Plot (Boston Housing)</a:t>
            </a:r>
          </a:p>
        </p:txBody>
      </p:sp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3425" y="1738313"/>
            <a:ext cx="767715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81000" y="5334000"/>
            <a:ext cx="830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library(MASS)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par(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mfcol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c(2,1))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parcoord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housing.df$CAT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..MEDV == 0, -14], main = "CAT.MEDV = 0")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parcoord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housing.df$CAT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..MEDV == 1, -14], main = "CAT.MEDV = 1")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429000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Each line is a single record</a:t>
            </a:r>
            <a:endParaRPr lang="en-US" sz="1200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248400" y="3733800"/>
            <a:ext cx="304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352800"/>
            <a:ext cx="2971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All variables are rescaled to 0-1 scale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en-US" dirty="0" smtClean="0"/>
              <a:t>Linked plots</a:t>
            </a:r>
            <a:br>
              <a:rPr lang="en-US" altLang="en-US" dirty="0" smtClean="0"/>
            </a:br>
            <a:r>
              <a:rPr lang="en-US" altLang="en-US" sz="2800" dirty="0" smtClean="0"/>
              <a:t>(same record is highlighted in each plot)</a:t>
            </a:r>
          </a:p>
        </p:txBody>
      </p:sp>
      <p:pic>
        <p:nvPicPr>
          <p:cNvPr id="30723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00200" y="1295400"/>
            <a:ext cx="6521450" cy="4572000"/>
          </a:xfrm>
          <a:noFill/>
        </p:spPr>
      </p:pic>
      <p:sp>
        <p:nvSpPr>
          <p:cNvPr id="4" name="TextBox 3"/>
          <p:cNvSpPr txBox="1"/>
          <p:nvPr/>
        </p:nvSpPr>
        <p:spPr>
          <a:xfrm>
            <a:off x="457200" y="6172200"/>
            <a:ext cx="822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Produced in </a:t>
            </a:r>
            <a:r>
              <a:rPr lang="en-US" sz="1400" dirty="0" err="1" smtClean="0"/>
              <a:t>Spotfire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itle 1"/>
          <p:cNvSpPr>
            <a:spLocks noGrp="1"/>
          </p:cNvSpPr>
          <p:nvPr>
            <p:ph type="title"/>
          </p:nvPr>
        </p:nvSpPr>
        <p:spPr>
          <a:xfrm>
            <a:off x="228600" y="1371600"/>
            <a:ext cx="3657600" cy="838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Network Graph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sz="2400" dirty="0" smtClean="0"/>
              <a:t>eBay Auctions</a:t>
            </a:r>
            <a:endParaRPr lang="en-US" altLang="en-US" sz="2400" dirty="0" smtClean="0"/>
          </a:p>
        </p:txBody>
      </p:sp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228600"/>
            <a:ext cx="5105400" cy="4783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28600" y="4495800"/>
            <a:ext cx="6705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library(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igraph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ebay.df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read.csv("eBayNetwork.csv")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transform node ids to factors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ebay.df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[,1] &lt;-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as.factor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ebay.df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[,1])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ebay.df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[,2] &lt;-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as.factor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ebay.df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[,2])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graph.edges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as.matrix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ebay.df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[,1:2])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g &lt;-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graph.edgelist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graph.edges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directed = FALSE)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isBuyer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V(g)$name %in%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graph.edges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[,2]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plot(g,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vertex.label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NA,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vertex.color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ifelse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isBuyer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"gray", "black"),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vertex.size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ifelse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isBuyer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7, 10))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086600" cy="762000"/>
          </a:xfrm>
        </p:spPr>
        <p:txBody>
          <a:bodyPr/>
          <a:lstStyle/>
          <a:p>
            <a:pPr algn="ctr" eaLnBrk="1" hangingPunct="1"/>
            <a:r>
              <a:rPr lang="en-US" altLang="en-US" sz="3200" dirty="0" err="1" smtClean="0"/>
              <a:t>Treemap</a:t>
            </a:r>
            <a:r>
              <a:rPr lang="en-US" altLang="en-US" sz="3200" dirty="0" smtClean="0"/>
              <a:t> – eBay Auctions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sz="2000" dirty="0" smtClean="0"/>
              <a:t>(Hierarchical eBay data: </a:t>
            </a:r>
            <a:r>
              <a:rPr lang="en-US" altLang="en-US" sz="2000" dirty="0" smtClean="0"/>
              <a:t>Category</a:t>
            </a:r>
            <a:r>
              <a:rPr lang="en-US" altLang="en-US" sz="2000" dirty="0" smtClean="0"/>
              <a:t>&gt; sub-category&gt; Brand)</a:t>
            </a:r>
          </a:p>
        </p:txBody>
      </p:sp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78676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04800" y="4953000"/>
            <a:ext cx="8610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library(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treemap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tree.df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read.csv("EbayTreemap.csv")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add column for negative feedback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tree.df$negative.feedback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&lt;- 1* 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tree.df$Seller.Feedback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 0)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draw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treemap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treemap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tree.df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index = c("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Category","Sub.Category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", "Brand"),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vSize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High.Bid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vColor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negative.feedback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fun.aggregate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"mean",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align.labels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list(c("left", "top"), c("right", "bottom"), c("center", "center")),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palette = rev(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gray.colors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(3)), type = "manual", title = "")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52400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Detail on this corner – next slide</a:t>
            </a:r>
            <a:endParaRPr lang="en-US" sz="1200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772400" y="6858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143000"/>
            <a:ext cx="5851473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6096000" y="8382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38800" y="6096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Category</a:t>
            </a:r>
            <a:endParaRPr lang="en-US" sz="1200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086600" y="49530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67600" y="48006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Subcategory</a:t>
            </a:r>
            <a:endParaRPr lang="en-US" sz="1200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6934200" y="1828800"/>
            <a:ext cx="381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67600" y="1676400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Brand</a:t>
            </a:r>
            <a:endParaRPr lang="en-US" sz="1200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2362200" y="5486400"/>
            <a:ext cx="152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90800" y="5867400"/>
            <a:ext cx="335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Darker = more negative feedback</a:t>
            </a:r>
            <a:endParaRPr lang="en-US" sz="1200" dirty="0"/>
          </a:p>
        </p:txBody>
      </p:sp>
      <p:sp>
        <p:nvSpPr>
          <p:cNvPr id="22" name="Right Brace 21"/>
          <p:cNvSpPr/>
          <p:nvPr/>
        </p:nvSpPr>
        <p:spPr>
          <a:xfrm>
            <a:off x="7162800" y="2514600"/>
            <a:ext cx="228600" cy="838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543800" y="2743200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Rectangle size = avg. value of item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219200"/>
            <a:ext cx="3886200" cy="385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295400" y="152400"/>
            <a:ext cx="6477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+mj-lt"/>
              </a:rPr>
              <a:t>Using Google Maps </a:t>
            </a:r>
          </a:p>
          <a:p>
            <a:pPr algn="ctr"/>
            <a:r>
              <a:rPr lang="en-US" dirty="0" smtClean="0">
                <a:latin typeface="+mj-lt"/>
              </a:rPr>
              <a:t>Location of Statistics.com students and instructors</a:t>
            </a:r>
            <a:endParaRPr lang="en-US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5257800"/>
            <a:ext cx="7772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library(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ggmap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SCstudents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read.csv("SC-US-students-GPS-data-2016.csv")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Map &lt;-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get_map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("Denver, CO", zoom = 3)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ggmap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(Map) +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aes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(x = longitude, y = latitude), data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SCstudents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alpha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0.4,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colour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"red", size = 0.5)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33400" y="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Map Chart </a:t>
            </a:r>
          </a:p>
          <a:p>
            <a:pPr algn="ctr" eaLnBrk="0" hangingPunct="0">
              <a:defRPr/>
            </a:pPr>
            <a:r>
              <a:rPr lang="en-US" sz="2400" dirty="0">
                <a:latin typeface="+mj-lt"/>
                <a:ea typeface="+mj-ea"/>
                <a:cs typeface="+mj-cs"/>
              </a:rPr>
              <a:t>(Comparing countries’ well-being with GDP)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124200"/>
            <a:ext cx="2057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latin typeface="+mj-lt"/>
              </a:rPr>
              <a:t>Darker = higher value</a:t>
            </a:r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066801"/>
            <a:ext cx="4495800" cy="406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" y="5029200"/>
            <a:ext cx="838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library(mosaic)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gdp.df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read.csv("gdp.csv", skip = 4,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stringsAsFactors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FALSE)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names(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gdp.df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)[5] &lt;- "GDP2015"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happiness.df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&lt;- read.csv("Veerhoven.csv")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gdp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map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mWorldMap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gdp.df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key = "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Country.Name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", fill = "GDP2015") +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coord_map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well-being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map</a:t>
            </a:r>
          </a:p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mWorldMap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happiness.df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key = "Nation", fill = "Score") +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coord_map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() +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scale_fill_continuous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(name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 "Happiness")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8942</TotalTime>
  <Words>1507</Words>
  <Application>Microsoft Office PowerPoint</Application>
  <PresentationFormat>On-screen Show (4:3)</PresentationFormat>
  <Paragraphs>213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Franklin Gothic Book</vt:lpstr>
      <vt:lpstr>Perpetua</vt:lpstr>
      <vt:lpstr>Wingdings 2</vt:lpstr>
      <vt:lpstr>Calibri</vt:lpstr>
      <vt:lpstr>Equity</vt:lpstr>
      <vt:lpstr>Chapter 3 – Data Visualization</vt:lpstr>
      <vt:lpstr>Graphs for Data Exploration</vt:lpstr>
      <vt:lpstr>Line Graph for Time Series Amtrak Ridership</vt:lpstr>
      <vt:lpstr>Bar Chart for Categorical Variable Average median neighborhood value for neighborhoods that do and do not border the Charles River</vt:lpstr>
      <vt:lpstr>Scatterplot Displays relationship between two numerical variables </vt:lpstr>
      <vt:lpstr>Distribution Plots</vt:lpstr>
      <vt:lpstr>Histograms</vt:lpstr>
      <vt:lpstr>Boxplots</vt:lpstr>
      <vt:lpstr>Box Plot</vt:lpstr>
      <vt:lpstr>Heat Maps </vt:lpstr>
      <vt:lpstr>Heatmap to highlight correlations Darker &amp; redder = stronger positive or negative correlation</vt:lpstr>
      <vt:lpstr>Multidimensional Visualization</vt:lpstr>
      <vt:lpstr>Scatterplot with color/shade added</vt:lpstr>
      <vt:lpstr>Slide 14</vt:lpstr>
      <vt:lpstr>Slide 15</vt:lpstr>
      <vt:lpstr>Slide 16</vt:lpstr>
      <vt:lpstr>Rescaling to log scale (on right) “uncrowds” the data</vt:lpstr>
      <vt:lpstr>Amtrak Ridership – Monthly Data – Curve Added</vt:lpstr>
      <vt:lpstr>Slide 19</vt:lpstr>
      <vt:lpstr>Scatter Plot with Labels (Utilities)</vt:lpstr>
      <vt:lpstr>Scaling:  Smaller markers, jittering, color contrast (Universal Bank; red = accept loan)</vt:lpstr>
      <vt:lpstr>Slide 22</vt:lpstr>
      <vt:lpstr>Parallel Coordinate Plot (Boston Housing)</vt:lpstr>
      <vt:lpstr>Linked plots (same record is highlighted in each plot)</vt:lpstr>
      <vt:lpstr>Network Graph  eBay Auctions</vt:lpstr>
      <vt:lpstr>Treemap – eBay Auctions  (Hierarchical eBay data: Category&gt; sub-category&gt; Brand)</vt:lpstr>
      <vt:lpstr>Slide 27</vt:lpstr>
      <vt:lpstr>Slide 28</vt:lpstr>
      <vt:lpstr>Slide 29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Peter</dc:creator>
  <cp:lastModifiedBy>Peter</cp:lastModifiedBy>
  <cp:revision>227</cp:revision>
  <dcterms:created xsi:type="dcterms:W3CDTF">2010-09-20T12:10:21Z</dcterms:created>
  <dcterms:modified xsi:type="dcterms:W3CDTF">2017-11-12T14:16:04Z</dcterms:modified>
</cp:coreProperties>
</file>